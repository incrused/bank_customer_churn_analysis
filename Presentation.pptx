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0" r:id="rId1"/>
    <p:sldMasterId id="2147483720" r:id="rId2"/>
  </p:sldMasterIdLst>
  <p:notesMasterIdLst>
    <p:notesMasterId r:id="rId15"/>
  </p:notesMasterIdLst>
  <p:sldIdLst>
    <p:sldId id="256" r:id="rId3"/>
    <p:sldId id="259" r:id="rId4"/>
    <p:sldId id="261" r:id="rId5"/>
    <p:sldId id="263" r:id="rId6"/>
    <p:sldId id="265" r:id="rId7"/>
    <p:sldId id="267" r:id="rId8"/>
    <p:sldId id="269" r:id="rId9"/>
    <p:sldId id="272" r:id="rId10"/>
    <p:sldId id="273" r:id="rId11"/>
    <p:sldId id="274" r:id="rId12"/>
    <p:sldId id="276" r:id="rId13"/>
    <p:sldId id="275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D29293-1986-40AE-A1AF-35C8CCCAEEE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094B8C9D-0384-4467-8C42-C91246C4B71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ru-RU" b="1" i="0" dirty="0">
              <a:solidFill>
                <a:schemeClr val="tx1">
                  <a:lumMod val="65000"/>
                  <a:lumOff val="35000"/>
                </a:schemeClr>
              </a:solidFill>
            </a:rPr>
            <a:t>VIP-сервис</a:t>
          </a:r>
          <a:r>
            <a:rPr lang="ru-RU" b="0" i="0" dirty="0">
              <a:solidFill>
                <a:schemeClr val="tx1">
                  <a:lumMod val="65000"/>
                  <a:lumOff val="35000"/>
                </a:schemeClr>
              </a:solidFill>
            </a:rPr>
            <a:t> для клиентов 40+ с высоким балансом.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A4BD810B-D15B-4546-85A6-AD1D3AC4D350}" type="parTrans" cxnId="{47E47A83-B631-4173-8AA2-CF20D50C251C}">
      <dgm:prSet/>
      <dgm:spPr/>
      <dgm:t>
        <a:bodyPr/>
        <a:lstStyle/>
        <a:p>
          <a:endParaRPr lang="en-US"/>
        </a:p>
      </dgm:t>
    </dgm:pt>
    <dgm:pt modelId="{D4FBE1F9-7AFC-4A69-8AA3-939A75A19221}" type="sibTrans" cxnId="{47E47A83-B631-4173-8AA2-CF20D50C251C}">
      <dgm:prSet/>
      <dgm:spPr/>
      <dgm:t>
        <a:bodyPr/>
        <a:lstStyle/>
        <a:p>
          <a:endParaRPr lang="en-US"/>
        </a:p>
      </dgm:t>
    </dgm:pt>
    <dgm:pt modelId="{734322E3-8F07-45F3-8689-2342C0BC26E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ru-RU" b="1" i="0" dirty="0">
              <a:solidFill>
                <a:schemeClr val="tx1">
                  <a:lumMod val="65000"/>
                  <a:lumOff val="35000"/>
                </a:schemeClr>
              </a:solidFill>
            </a:rPr>
            <a:t>Срочная программа</a:t>
          </a:r>
          <a:r>
            <a:rPr lang="ru-RU" b="0" i="0" dirty="0">
              <a:solidFill>
                <a:schemeClr val="tx1">
                  <a:lumMod val="65000"/>
                  <a:lumOff val="35000"/>
                </a:schemeClr>
              </a:solidFill>
            </a:rPr>
            <a:t> для немецкого рынка.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4B2255D0-DC3E-49A2-98A9-8138FC0BEA0D}" type="parTrans" cxnId="{D55897D1-F570-4AFA-852B-0C335E05AA6E}">
      <dgm:prSet/>
      <dgm:spPr/>
      <dgm:t>
        <a:bodyPr/>
        <a:lstStyle/>
        <a:p>
          <a:endParaRPr lang="en-US"/>
        </a:p>
      </dgm:t>
    </dgm:pt>
    <dgm:pt modelId="{51B8D025-6A8C-4E63-9582-1668F1F1E5F0}" type="sibTrans" cxnId="{D55897D1-F570-4AFA-852B-0C335E05AA6E}">
      <dgm:prSet/>
      <dgm:spPr/>
      <dgm:t>
        <a:bodyPr/>
        <a:lstStyle/>
        <a:p>
          <a:endParaRPr lang="en-US"/>
        </a:p>
      </dgm:t>
    </dgm:pt>
    <dgm:pt modelId="{7DC7A734-9794-4091-AC0C-8BD4DAB5E4A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ru-RU" b="1" i="0" dirty="0">
              <a:solidFill>
                <a:schemeClr val="tx1">
                  <a:lumMod val="65000"/>
                  <a:lumOff val="35000"/>
                </a:schemeClr>
              </a:solidFill>
            </a:rPr>
            <a:t>Кампания по реактивации</a:t>
          </a:r>
          <a:r>
            <a:rPr lang="ru-RU" b="0" i="0" dirty="0">
              <a:solidFill>
                <a:schemeClr val="tx1">
                  <a:lumMod val="65000"/>
                  <a:lumOff val="35000"/>
                </a:schemeClr>
              </a:solidFill>
            </a:rPr>
            <a:t> неактивных клиентов.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BD22B7D3-8E37-4EF3-8A10-A5D0B18E37E3}" type="parTrans" cxnId="{0BF20A93-5B62-4544-ACEB-6C9E6645CF5F}">
      <dgm:prSet/>
      <dgm:spPr/>
      <dgm:t>
        <a:bodyPr/>
        <a:lstStyle/>
        <a:p>
          <a:endParaRPr lang="en-US"/>
        </a:p>
      </dgm:t>
    </dgm:pt>
    <dgm:pt modelId="{E3184205-A264-47B3-9868-3DCF0ED86293}" type="sibTrans" cxnId="{0BF20A93-5B62-4544-ACEB-6C9E6645CF5F}">
      <dgm:prSet/>
      <dgm:spPr/>
      <dgm:t>
        <a:bodyPr/>
        <a:lstStyle/>
        <a:p>
          <a:endParaRPr lang="en-US"/>
        </a:p>
      </dgm:t>
    </dgm:pt>
    <dgm:pt modelId="{338E40E8-2ED0-403F-B65D-6350F64D882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ru-RU" b="1" i="0" dirty="0">
              <a:solidFill>
                <a:schemeClr val="tx1">
                  <a:lumMod val="65000"/>
                  <a:lumOff val="35000"/>
                </a:schemeClr>
              </a:solidFill>
            </a:rPr>
            <a:t>Исследование причин</a:t>
          </a:r>
          <a:r>
            <a:rPr lang="ru-RU" b="0" i="0" dirty="0">
              <a:solidFill>
                <a:schemeClr val="tx1">
                  <a:lumMod val="65000"/>
                  <a:lumOff val="35000"/>
                </a:schemeClr>
              </a:solidFill>
            </a:rPr>
            <a:t> оттока многопродуктовых клиентов.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713A947B-313F-4484-A27D-335B83922A08}" type="parTrans" cxnId="{7581A15A-A768-4FAD-9A62-606C951A79E9}">
      <dgm:prSet/>
      <dgm:spPr/>
      <dgm:t>
        <a:bodyPr/>
        <a:lstStyle/>
        <a:p>
          <a:endParaRPr lang="en-US"/>
        </a:p>
      </dgm:t>
    </dgm:pt>
    <dgm:pt modelId="{2FF4E2E7-0BF5-4E5D-9EAA-2582F721C20C}" type="sibTrans" cxnId="{7581A15A-A768-4FAD-9A62-606C951A79E9}">
      <dgm:prSet/>
      <dgm:spPr/>
      <dgm:t>
        <a:bodyPr/>
        <a:lstStyle/>
        <a:p>
          <a:endParaRPr lang="en-US"/>
        </a:p>
      </dgm:t>
    </dgm:pt>
    <dgm:pt modelId="{95A84C92-0503-413E-831C-3C4AFAB277D5}" type="pres">
      <dgm:prSet presAssocID="{5ED29293-1986-40AE-A1AF-35C8CCCAEEE6}" presName="root" presStyleCnt="0">
        <dgm:presLayoutVars>
          <dgm:dir/>
          <dgm:resizeHandles val="exact"/>
        </dgm:presLayoutVars>
      </dgm:prSet>
      <dgm:spPr/>
    </dgm:pt>
    <dgm:pt modelId="{7CDA1504-841A-43CB-868D-AC51FD2FEAB8}" type="pres">
      <dgm:prSet presAssocID="{094B8C9D-0384-4467-8C42-C91246C4B711}" presName="compNode" presStyleCnt="0"/>
      <dgm:spPr/>
    </dgm:pt>
    <dgm:pt modelId="{2BDE0024-3ED9-4E51-8C65-8641F5799A1C}" type="pres">
      <dgm:prSet presAssocID="{094B8C9D-0384-4467-8C42-C91246C4B711}" presName="iconBgRect" presStyleLbl="bgShp" presStyleIdx="0" presStyleCnt="4"/>
      <dgm:spPr>
        <a:solidFill>
          <a:schemeClr val="bg1">
            <a:lumMod val="85000"/>
          </a:schemeClr>
        </a:solidFill>
      </dgm:spPr>
    </dgm:pt>
    <dgm:pt modelId="{541F78CC-DCB0-4F2D-9449-62763C2972C8}" type="pres">
      <dgm:prSet presAssocID="{094B8C9D-0384-4467-8C42-C91246C4B71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Инструменты"/>
        </a:ext>
      </dgm:extLst>
    </dgm:pt>
    <dgm:pt modelId="{7DBA4A6E-241A-4C0C-A4C9-9D57B9674AC6}" type="pres">
      <dgm:prSet presAssocID="{094B8C9D-0384-4467-8C42-C91246C4B711}" presName="spaceRect" presStyleCnt="0"/>
      <dgm:spPr/>
    </dgm:pt>
    <dgm:pt modelId="{D63695E1-9DB4-46DD-B524-28E699E65392}" type="pres">
      <dgm:prSet presAssocID="{094B8C9D-0384-4467-8C42-C91246C4B711}" presName="textRect" presStyleLbl="revTx" presStyleIdx="0" presStyleCnt="4">
        <dgm:presLayoutVars>
          <dgm:chMax val="1"/>
          <dgm:chPref val="1"/>
        </dgm:presLayoutVars>
      </dgm:prSet>
      <dgm:spPr/>
    </dgm:pt>
    <dgm:pt modelId="{1E496407-0B26-431F-8437-D02B6AA3E515}" type="pres">
      <dgm:prSet presAssocID="{D4FBE1F9-7AFC-4A69-8AA3-939A75A19221}" presName="sibTrans" presStyleCnt="0"/>
      <dgm:spPr/>
    </dgm:pt>
    <dgm:pt modelId="{AAC16071-1765-4938-94E2-CADBDAB7C13C}" type="pres">
      <dgm:prSet presAssocID="{734322E3-8F07-45F3-8689-2342C0BC26EC}" presName="compNode" presStyleCnt="0"/>
      <dgm:spPr/>
    </dgm:pt>
    <dgm:pt modelId="{C5421726-C2E3-429A-8314-75C5CD65F207}" type="pres">
      <dgm:prSet presAssocID="{734322E3-8F07-45F3-8689-2342C0BC26EC}" presName="iconBgRect" presStyleLbl="bgShp" presStyleIdx="1" presStyleCnt="4" custLinFactNeighborX="7410" custLinFactNeighborY="-2869"/>
      <dgm:spPr>
        <a:solidFill>
          <a:schemeClr val="bg1">
            <a:lumMod val="85000"/>
          </a:schemeClr>
        </a:solidFill>
      </dgm:spPr>
    </dgm:pt>
    <dgm:pt modelId="{8AC84918-1D9C-4FBF-B064-2006E56FB5F8}" type="pres">
      <dgm:prSet presAssocID="{734322E3-8F07-45F3-8689-2342C0BC26EC}" presName="iconRect" presStyleLbl="node1" presStyleIdx="1" presStyleCnt="4" custLinFactNeighborX="12178" custLinFactNeighborY="-4999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larm Clock"/>
        </a:ext>
      </dgm:extLst>
    </dgm:pt>
    <dgm:pt modelId="{DD86A55B-93B4-4165-A085-94C0937E6CAD}" type="pres">
      <dgm:prSet presAssocID="{734322E3-8F07-45F3-8689-2342C0BC26EC}" presName="spaceRect" presStyleCnt="0"/>
      <dgm:spPr/>
    </dgm:pt>
    <dgm:pt modelId="{CA597E54-A8DA-4CFA-90ED-B0E3EEC2AB50}" type="pres">
      <dgm:prSet presAssocID="{734322E3-8F07-45F3-8689-2342C0BC26EC}" presName="textRect" presStyleLbl="revTx" presStyleIdx="1" presStyleCnt="4">
        <dgm:presLayoutVars>
          <dgm:chMax val="1"/>
          <dgm:chPref val="1"/>
        </dgm:presLayoutVars>
      </dgm:prSet>
      <dgm:spPr/>
    </dgm:pt>
    <dgm:pt modelId="{ADDA3EA1-2EF2-4BF0-801C-84B949C472F9}" type="pres">
      <dgm:prSet presAssocID="{51B8D025-6A8C-4E63-9582-1668F1F1E5F0}" presName="sibTrans" presStyleCnt="0"/>
      <dgm:spPr/>
    </dgm:pt>
    <dgm:pt modelId="{55695730-52CC-4D11-ABC7-7AC848195C87}" type="pres">
      <dgm:prSet presAssocID="{7DC7A734-9794-4091-AC0C-8BD4DAB5E4AA}" presName="compNode" presStyleCnt="0"/>
      <dgm:spPr/>
    </dgm:pt>
    <dgm:pt modelId="{6E4536C9-0BFF-4339-BBEA-FDADCD8D5A88}" type="pres">
      <dgm:prSet presAssocID="{7DC7A734-9794-4091-AC0C-8BD4DAB5E4AA}" presName="iconBgRect" presStyleLbl="bgShp" presStyleIdx="2" presStyleCnt="4"/>
      <dgm:spPr>
        <a:solidFill>
          <a:schemeClr val="bg1">
            <a:lumMod val="85000"/>
          </a:schemeClr>
        </a:solidFill>
      </dgm:spPr>
    </dgm:pt>
    <dgm:pt modelId="{6726334F-8DAE-4F3C-9241-CEDCF4DFC537}" type="pres">
      <dgm:prSet presAssocID="{7DC7A734-9794-4091-AC0C-8BD4DAB5E4A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6726AFBE-9BB9-4FAB-8E59-F15D44EE1D69}" type="pres">
      <dgm:prSet presAssocID="{7DC7A734-9794-4091-AC0C-8BD4DAB5E4AA}" presName="spaceRect" presStyleCnt="0"/>
      <dgm:spPr/>
    </dgm:pt>
    <dgm:pt modelId="{127EF0BA-EF4E-4FA1-9DBD-A36EA01FA2DB}" type="pres">
      <dgm:prSet presAssocID="{7DC7A734-9794-4091-AC0C-8BD4DAB5E4AA}" presName="textRect" presStyleLbl="revTx" presStyleIdx="2" presStyleCnt="4" custScaleX="133664">
        <dgm:presLayoutVars>
          <dgm:chMax val="1"/>
          <dgm:chPref val="1"/>
        </dgm:presLayoutVars>
      </dgm:prSet>
      <dgm:spPr/>
    </dgm:pt>
    <dgm:pt modelId="{D13990D2-5474-42C0-94D5-78A7FF60AD42}" type="pres">
      <dgm:prSet presAssocID="{E3184205-A264-47B3-9868-3DCF0ED86293}" presName="sibTrans" presStyleCnt="0"/>
      <dgm:spPr/>
    </dgm:pt>
    <dgm:pt modelId="{7716EC83-75AF-4070-BEE9-E66EF08FF890}" type="pres">
      <dgm:prSet presAssocID="{338E40E8-2ED0-403F-B65D-6350F64D882D}" presName="compNode" presStyleCnt="0"/>
      <dgm:spPr/>
    </dgm:pt>
    <dgm:pt modelId="{9A02636F-FB3F-4A49-A392-E227D6A9AB83}" type="pres">
      <dgm:prSet presAssocID="{338E40E8-2ED0-403F-B65D-6350F64D882D}" presName="iconBgRect" presStyleLbl="bgShp" presStyleIdx="3" presStyleCnt="4"/>
      <dgm:spPr>
        <a:solidFill>
          <a:schemeClr val="bg1">
            <a:lumMod val="85000"/>
          </a:schemeClr>
        </a:solidFill>
      </dgm:spPr>
    </dgm:pt>
    <dgm:pt modelId="{5870768D-BBD5-48C7-8272-22CE3591EF15}" type="pres">
      <dgm:prSet presAssocID="{338E40E8-2ED0-403F-B65D-6350F64D882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Пользователи"/>
        </a:ext>
      </dgm:extLst>
    </dgm:pt>
    <dgm:pt modelId="{A99D08F9-DD62-4201-B164-C199F4782913}" type="pres">
      <dgm:prSet presAssocID="{338E40E8-2ED0-403F-B65D-6350F64D882D}" presName="spaceRect" presStyleCnt="0"/>
      <dgm:spPr/>
    </dgm:pt>
    <dgm:pt modelId="{AF6E5DFC-B663-42C3-B581-ECEFF833625B}" type="pres">
      <dgm:prSet presAssocID="{338E40E8-2ED0-403F-B65D-6350F64D882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2447206-C1A3-4DCA-9444-1868F1E7413D}" type="presOf" srcId="{734322E3-8F07-45F3-8689-2342C0BC26EC}" destId="{CA597E54-A8DA-4CFA-90ED-B0E3EEC2AB50}" srcOrd="0" destOrd="0" presId="urn:microsoft.com/office/officeart/2018/5/layout/IconCircleLabelList"/>
    <dgm:cxn modelId="{09A11F42-1F99-4F8D-94C2-025C8D30162A}" type="presOf" srcId="{094B8C9D-0384-4467-8C42-C91246C4B711}" destId="{D63695E1-9DB4-46DD-B524-28E699E65392}" srcOrd="0" destOrd="0" presId="urn:microsoft.com/office/officeart/2018/5/layout/IconCircleLabelList"/>
    <dgm:cxn modelId="{3317FE66-80A6-48B4-A40D-4E92B441D4C7}" type="presOf" srcId="{5ED29293-1986-40AE-A1AF-35C8CCCAEEE6}" destId="{95A84C92-0503-413E-831C-3C4AFAB277D5}" srcOrd="0" destOrd="0" presId="urn:microsoft.com/office/officeart/2018/5/layout/IconCircleLabelList"/>
    <dgm:cxn modelId="{7581A15A-A768-4FAD-9A62-606C951A79E9}" srcId="{5ED29293-1986-40AE-A1AF-35C8CCCAEEE6}" destId="{338E40E8-2ED0-403F-B65D-6350F64D882D}" srcOrd="3" destOrd="0" parTransId="{713A947B-313F-4484-A27D-335B83922A08}" sibTransId="{2FF4E2E7-0BF5-4E5D-9EAA-2582F721C20C}"/>
    <dgm:cxn modelId="{47E47A83-B631-4173-8AA2-CF20D50C251C}" srcId="{5ED29293-1986-40AE-A1AF-35C8CCCAEEE6}" destId="{094B8C9D-0384-4467-8C42-C91246C4B711}" srcOrd="0" destOrd="0" parTransId="{A4BD810B-D15B-4546-85A6-AD1D3AC4D350}" sibTransId="{D4FBE1F9-7AFC-4A69-8AA3-939A75A19221}"/>
    <dgm:cxn modelId="{58564E84-0027-472D-89DA-0C639D6C04E9}" type="presOf" srcId="{338E40E8-2ED0-403F-B65D-6350F64D882D}" destId="{AF6E5DFC-B663-42C3-B581-ECEFF833625B}" srcOrd="0" destOrd="0" presId="urn:microsoft.com/office/officeart/2018/5/layout/IconCircleLabelList"/>
    <dgm:cxn modelId="{A28A2489-7C66-4D08-B7E6-CF99844DAC47}" type="presOf" srcId="{7DC7A734-9794-4091-AC0C-8BD4DAB5E4AA}" destId="{127EF0BA-EF4E-4FA1-9DBD-A36EA01FA2DB}" srcOrd="0" destOrd="0" presId="urn:microsoft.com/office/officeart/2018/5/layout/IconCircleLabelList"/>
    <dgm:cxn modelId="{0BF20A93-5B62-4544-ACEB-6C9E6645CF5F}" srcId="{5ED29293-1986-40AE-A1AF-35C8CCCAEEE6}" destId="{7DC7A734-9794-4091-AC0C-8BD4DAB5E4AA}" srcOrd="2" destOrd="0" parTransId="{BD22B7D3-8E37-4EF3-8A10-A5D0B18E37E3}" sibTransId="{E3184205-A264-47B3-9868-3DCF0ED86293}"/>
    <dgm:cxn modelId="{D55897D1-F570-4AFA-852B-0C335E05AA6E}" srcId="{5ED29293-1986-40AE-A1AF-35C8CCCAEEE6}" destId="{734322E3-8F07-45F3-8689-2342C0BC26EC}" srcOrd="1" destOrd="0" parTransId="{4B2255D0-DC3E-49A2-98A9-8138FC0BEA0D}" sibTransId="{51B8D025-6A8C-4E63-9582-1668F1F1E5F0}"/>
    <dgm:cxn modelId="{A4A4285A-1558-4356-A903-7A98D26BF305}" type="presParOf" srcId="{95A84C92-0503-413E-831C-3C4AFAB277D5}" destId="{7CDA1504-841A-43CB-868D-AC51FD2FEAB8}" srcOrd="0" destOrd="0" presId="urn:microsoft.com/office/officeart/2018/5/layout/IconCircleLabelList"/>
    <dgm:cxn modelId="{482C6CA3-548C-4866-A7AB-D8ECE71212CA}" type="presParOf" srcId="{7CDA1504-841A-43CB-868D-AC51FD2FEAB8}" destId="{2BDE0024-3ED9-4E51-8C65-8641F5799A1C}" srcOrd="0" destOrd="0" presId="urn:microsoft.com/office/officeart/2018/5/layout/IconCircleLabelList"/>
    <dgm:cxn modelId="{C774A243-38BD-4EF2-898E-C4A529CB17C3}" type="presParOf" srcId="{7CDA1504-841A-43CB-868D-AC51FD2FEAB8}" destId="{541F78CC-DCB0-4F2D-9449-62763C2972C8}" srcOrd="1" destOrd="0" presId="urn:microsoft.com/office/officeart/2018/5/layout/IconCircleLabelList"/>
    <dgm:cxn modelId="{9ACD30F8-32B4-4D6A-AB93-50E6A4912B25}" type="presParOf" srcId="{7CDA1504-841A-43CB-868D-AC51FD2FEAB8}" destId="{7DBA4A6E-241A-4C0C-A4C9-9D57B9674AC6}" srcOrd="2" destOrd="0" presId="urn:microsoft.com/office/officeart/2018/5/layout/IconCircleLabelList"/>
    <dgm:cxn modelId="{F85BB988-D443-45DF-A51E-246CC74C9364}" type="presParOf" srcId="{7CDA1504-841A-43CB-868D-AC51FD2FEAB8}" destId="{D63695E1-9DB4-46DD-B524-28E699E65392}" srcOrd="3" destOrd="0" presId="urn:microsoft.com/office/officeart/2018/5/layout/IconCircleLabelList"/>
    <dgm:cxn modelId="{7EE94A89-03FB-4B5E-8186-80FE7D132AEA}" type="presParOf" srcId="{95A84C92-0503-413E-831C-3C4AFAB277D5}" destId="{1E496407-0B26-431F-8437-D02B6AA3E515}" srcOrd="1" destOrd="0" presId="urn:microsoft.com/office/officeart/2018/5/layout/IconCircleLabelList"/>
    <dgm:cxn modelId="{DC426104-C080-4B23-B023-67B75C8BBA1B}" type="presParOf" srcId="{95A84C92-0503-413E-831C-3C4AFAB277D5}" destId="{AAC16071-1765-4938-94E2-CADBDAB7C13C}" srcOrd="2" destOrd="0" presId="urn:microsoft.com/office/officeart/2018/5/layout/IconCircleLabelList"/>
    <dgm:cxn modelId="{EF755866-F1B5-4007-9D7B-6D70F9ACE223}" type="presParOf" srcId="{AAC16071-1765-4938-94E2-CADBDAB7C13C}" destId="{C5421726-C2E3-429A-8314-75C5CD65F207}" srcOrd="0" destOrd="0" presId="urn:microsoft.com/office/officeart/2018/5/layout/IconCircleLabelList"/>
    <dgm:cxn modelId="{7B18E27D-3744-4D1B-BBEA-DE33DF947DA6}" type="presParOf" srcId="{AAC16071-1765-4938-94E2-CADBDAB7C13C}" destId="{8AC84918-1D9C-4FBF-B064-2006E56FB5F8}" srcOrd="1" destOrd="0" presId="urn:microsoft.com/office/officeart/2018/5/layout/IconCircleLabelList"/>
    <dgm:cxn modelId="{066B2789-0493-4FC9-8321-5BAC31B6C5CE}" type="presParOf" srcId="{AAC16071-1765-4938-94E2-CADBDAB7C13C}" destId="{DD86A55B-93B4-4165-A085-94C0937E6CAD}" srcOrd="2" destOrd="0" presId="urn:microsoft.com/office/officeart/2018/5/layout/IconCircleLabelList"/>
    <dgm:cxn modelId="{6DFE535F-46DF-433D-B7BA-275221D63D40}" type="presParOf" srcId="{AAC16071-1765-4938-94E2-CADBDAB7C13C}" destId="{CA597E54-A8DA-4CFA-90ED-B0E3EEC2AB50}" srcOrd="3" destOrd="0" presId="urn:microsoft.com/office/officeart/2018/5/layout/IconCircleLabelList"/>
    <dgm:cxn modelId="{8BA2B308-650B-4F0F-A62E-397EA4110822}" type="presParOf" srcId="{95A84C92-0503-413E-831C-3C4AFAB277D5}" destId="{ADDA3EA1-2EF2-4BF0-801C-84B949C472F9}" srcOrd="3" destOrd="0" presId="urn:microsoft.com/office/officeart/2018/5/layout/IconCircleLabelList"/>
    <dgm:cxn modelId="{DC692597-C98C-49F1-96D5-24BC80F134E4}" type="presParOf" srcId="{95A84C92-0503-413E-831C-3C4AFAB277D5}" destId="{55695730-52CC-4D11-ABC7-7AC848195C87}" srcOrd="4" destOrd="0" presId="urn:microsoft.com/office/officeart/2018/5/layout/IconCircleLabelList"/>
    <dgm:cxn modelId="{35C051E5-6A79-4006-B638-E2E393097E34}" type="presParOf" srcId="{55695730-52CC-4D11-ABC7-7AC848195C87}" destId="{6E4536C9-0BFF-4339-BBEA-FDADCD8D5A88}" srcOrd="0" destOrd="0" presId="urn:microsoft.com/office/officeart/2018/5/layout/IconCircleLabelList"/>
    <dgm:cxn modelId="{A0E87929-CB37-47C1-B19B-4D87DC5270E0}" type="presParOf" srcId="{55695730-52CC-4D11-ABC7-7AC848195C87}" destId="{6726334F-8DAE-4F3C-9241-CEDCF4DFC537}" srcOrd="1" destOrd="0" presId="urn:microsoft.com/office/officeart/2018/5/layout/IconCircleLabelList"/>
    <dgm:cxn modelId="{0B809CDF-F1AA-4143-A795-038AC2B555AB}" type="presParOf" srcId="{55695730-52CC-4D11-ABC7-7AC848195C87}" destId="{6726AFBE-9BB9-4FAB-8E59-F15D44EE1D69}" srcOrd="2" destOrd="0" presId="urn:microsoft.com/office/officeart/2018/5/layout/IconCircleLabelList"/>
    <dgm:cxn modelId="{78623E19-5FAD-4B27-8D88-5B2803CCDDCC}" type="presParOf" srcId="{55695730-52CC-4D11-ABC7-7AC848195C87}" destId="{127EF0BA-EF4E-4FA1-9DBD-A36EA01FA2DB}" srcOrd="3" destOrd="0" presId="urn:microsoft.com/office/officeart/2018/5/layout/IconCircleLabelList"/>
    <dgm:cxn modelId="{C7FA2873-785D-4EE7-9373-FEC47791F1C7}" type="presParOf" srcId="{95A84C92-0503-413E-831C-3C4AFAB277D5}" destId="{D13990D2-5474-42C0-94D5-78A7FF60AD42}" srcOrd="5" destOrd="0" presId="urn:microsoft.com/office/officeart/2018/5/layout/IconCircleLabelList"/>
    <dgm:cxn modelId="{F5CA1897-4ED7-46D1-85A9-A7F1799E8F56}" type="presParOf" srcId="{95A84C92-0503-413E-831C-3C4AFAB277D5}" destId="{7716EC83-75AF-4070-BEE9-E66EF08FF890}" srcOrd="6" destOrd="0" presId="urn:microsoft.com/office/officeart/2018/5/layout/IconCircleLabelList"/>
    <dgm:cxn modelId="{6FFD1C55-3966-4225-B4F9-FAF7B59D2D05}" type="presParOf" srcId="{7716EC83-75AF-4070-BEE9-E66EF08FF890}" destId="{9A02636F-FB3F-4A49-A392-E227D6A9AB83}" srcOrd="0" destOrd="0" presId="urn:microsoft.com/office/officeart/2018/5/layout/IconCircleLabelList"/>
    <dgm:cxn modelId="{64ED0F8C-CCBD-422D-B40C-70D9CA509217}" type="presParOf" srcId="{7716EC83-75AF-4070-BEE9-E66EF08FF890}" destId="{5870768D-BBD5-48C7-8272-22CE3591EF15}" srcOrd="1" destOrd="0" presId="urn:microsoft.com/office/officeart/2018/5/layout/IconCircleLabelList"/>
    <dgm:cxn modelId="{CC9339C1-6D89-43D1-8EBA-86A9DD5D9B71}" type="presParOf" srcId="{7716EC83-75AF-4070-BEE9-E66EF08FF890}" destId="{A99D08F9-DD62-4201-B164-C199F4782913}" srcOrd="2" destOrd="0" presId="urn:microsoft.com/office/officeart/2018/5/layout/IconCircleLabelList"/>
    <dgm:cxn modelId="{6A6EE88C-948A-4D5E-A8A6-E147CCDB0487}" type="presParOf" srcId="{7716EC83-75AF-4070-BEE9-E66EF08FF890}" destId="{AF6E5DFC-B663-42C3-B581-ECEFF833625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DE0024-3ED9-4E51-8C65-8641F5799A1C}">
      <dsp:nvSpPr>
        <dsp:cNvPr id="0" name=""/>
        <dsp:cNvSpPr/>
      </dsp:nvSpPr>
      <dsp:spPr>
        <a:xfrm>
          <a:off x="307517" y="405951"/>
          <a:ext cx="957533" cy="957533"/>
        </a:xfrm>
        <a:prstGeom prst="ellipse">
          <a:avLst/>
        </a:prstGeom>
        <a:solidFill>
          <a:schemeClr val="bg1">
            <a:lumMod val="8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1F78CC-DCB0-4F2D-9449-62763C2972C8}">
      <dsp:nvSpPr>
        <dsp:cNvPr id="0" name=""/>
        <dsp:cNvSpPr/>
      </dsp:nvSpPr>
      <dsp:spPr>
        <a:xfrm>
          <a:off x="511582" y="610016"/>
          <a:ext cx="549404" cy="5494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3695E1-9DB4-46DD-B524-28E699E65392}">
      <dsp:nvSpPr>
        <dsp:cNvPr id="0" name=""/>
        <dsp:cNvSpPr/>
      </dsp:nvSpPr>
      <dsp:spPr>
        <a:xfrm>
          <a:off x="1421" y="1661732"/>
          <a:ext cx="1569726" cy="62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100" b="1" i="0" kern="1200" dirty="0">
              <a:solidFill>
                <a:schemeClr val="tx1">
                  <a:lumMod val="65000"/>
                  <a:lumOff val="35000"/>
                </a:schemeClr>
              </a:solidFill>
            </a:rPr>
            <a:t>VIP-сервис</a:t>
          </a:r>
          <a:r>
            <a:rPr lang="ru-RU" sz="1100" b="0" i="0" kern="1200" dirty="0">
              <a:solidFill>
                <a:schemeClr val="tx1">
                  <a:lumMod val="65000"/>
                  <a:lumOff val="35000"/>
                </a:schemeClr>
              </a:solidFill>
            </a:rPr>
            <a:t> для клиентов 40+ с высоким балансом.</a:t>
          </a:r>
          <a:endParaRPr lang="en-US" sz="11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1421" y="1661732"/>
        <a:ext cx="1569726" cy="627890"/>
      </dsp:txXfrm>
    </dsp:sp>
    <dsp:sp modelId="{C5421726-C2E3-429A-8314-75C5CD65F207}">
      <dsp:nvSpPr>
        <dsp:cNvPr id="0" name=""/>
        <dsp:cNvSpPr/>
      </dsp:nvSpPr>
      <dsp:spPr>
        <a:xfrm>
          <a:off x="2222899" y="378479"/>
          <a:ext cx="957533" cy="957533"/>
        </a:xfrm>
        <a:prstGeom prst="ellipse">
          <a:avLst/>
        </a:prstGeom>
        <a:solidFill>
          <a:schemeClr val="bg1">
            <a:lumMod val="8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C84918-1D9C-4FBF-B064-2006E56FB5F8}">
      <dsp:nvSpPr>
        <dsp:cNvPr id="0" name=""/>
        <dsp:cNvSpPr/>
      </dsp:nvSpPr>
      <dsp:spPr>
        <a:xfrm>
          <a:off x="2422917" y="582551"/>
          <a:ext cx="549404" cy="5494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597E54-A8DA-4CFA-90ED-B0E3EEC2AB50}">
      <dsp:nvSpPr>
        <dsp:cNvPr id="0" name=""/>
        <dsp:cNvSpPr/>
      </dsp:nvSpPr>
      <dsp:spPr>
        <a:xfrm>
          <a:off x="1845849" y="1661732"/>
          <a:ext cx="1569726" cy="62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100" b="1" i="0" kern="1200" dirty="0">
              <a:solidFill>
                <a:schemeClr val="tx1">
                  <a:lumMod val="65000"/>
                  <a:lumOff val="35000"/>
                </a:schemeClr>
              </a:solidFill>
            </a:rPr>
            <a:t>Срочная программа</a:t>
          </a:r>
          <a:r>
            <a:rPr lang="ru-RU" sz="1100" b="0" i="0" kern="1200" dirty="0">
              <a:solidFill>
                <a:schemeClr val="tx1">
                  <a:lumMod val="65000"/>
                  <a:lumOff val="35000"/>
                </a:schemeClr>
              </a:solidFill>
            </a:rPr>
            <a:t> для немецкого рынка.</a:t>
          </a:r>
          <a:endParaRPr lang="en-US" sz="11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1845849" y="1661732"/>
        <a:ext cx="1569726" cy="627890"/>
      </dsp:txXfrm>
    </dsp:sp>
    <dsp:sp modelId="{6E4536C9-0BFF-4339-BBEA-FDADCD8D5A88}">
      <dsp:nvSpPr>
        <dsp:cNvPr id="0" name=""/>
        <dsp:cNvSpPr/>
      </dsp:nvSpPr>
      <dsp:spPr>
        <a:xfrm>
          <a:off x="4260591" y="405951"/>
          <a:ext cx="957533" cy="957533"/>
        </a:xfrm>
        <a:prstGeom prst="ellipse">
          <a:avLst/>
        </a:prstGeom>
        <a:solidFill>
          <a:schemeClr val="bg1">
            <a:lumMod val="8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26334F-8DAE-4F3C-9241-CEDCF4DFC537}">
      <dsp:nvSpPr>
        <dsp:cNvPr id="0" name=""/>
        <dsp:cNvSpPr/>
      </dsp:nvSpPr>
      <dsp:spPr>
        <a:xfrm>
          <a:off x="4464656" y="610016"/>
          <a:ext cx="549404" cy="5494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EF0BA-EF4E-4FA1-9DBD-A36EA01FA2DB}">
      <dsp:nvSpPr>
        <dsp:cNvPr id="0" name=""/>
        <dsp:cNvSpPr/>
      </dsp:nvSpPr>
      <dsp:spPr>
        <a:xfrm>
          <a:off x="3690278" y="1661732"/>
          <a:ext cx="2098159" cy="62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100" b="1" i="0" kern="1200" dirty="0">
              <a:solidFill>
                <a:schemeClr val="tx1">
                  <a:lumMod val="65000"/>
                  <a:lumOff val="35000"/>
                </a:schemeClr>
              </a:solidFill>
            </a:rPr>
            <a:t>Кампания по реактивации</a:t>
          </a:r>
          <a:r>
            <a:rPr lang="ru-RU" sz="1100" b="0" i="0" kern="1200" dirty="0">
              <a:solidFill>
                <a:schemeClr val="tx1">
                  <a:lumMod val="65000"/>
                  <a:lumOff val="35000"/>
                </a:schemeClr>
              </a:solidFill>
            </a:rPr>
            <a:t> неактивных клиентов.</a:t>
          </a:r>
          <a:endParaRPr lang="en-US" sz="11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3690278" y="1661732"/>
        <a:ext cx="2098159" cy="627890"/>
      </dsp:txXfrm>
    </dsp:sp>
    <dsp:sp modelId="{9A02636F-FB3F-4A49-A392-E227D6A9AB83}">
      <dsp:nvSpPr>
        <dsp:cNvPr id="0" name=""/>
        <dsp:cNvSpPr/>
      </dsp:nvSpPr>
      <dsp:spPr>
        <a:xfrm>
          <a:off x="6369236" y="405951"/>
          <a:ext cx="957533" cy="957533"/>
        </a:xfrm>
        <a:prstGeom prst="ellipse">
          <a:avLst/>
        </a:prstGeom>
        <a:solidFill>
          <a:schemeClr val="bg1">
            <a:lumMod val="8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70768D-BBD5-48C7-8272-22CE3591EF15}">
      <dsp:nvSpPr>
        <dsp:cNvPr id="0" name=""/>
        <dsp:cNvSpPr/>
      </dsp:nvSpPr>
      <dsp:spPr>
        <a:xfrm>
          <a:off x="6573301" y="610016"/>
          <a:ext cx="549404" cy="54940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6E5DFC-B663-42C3-B581-ECEFF833625B}">
      <dsp:nvSpPr>
        <dsp:cNvPr id="0" name=""/>
        <dsp:cNvSpPr/>
      </dsp:nvSpPr>
      <dsp:spPr>
        <a:xfrm>
          <a:off x="6063140" y="1661732"/>
          <a:ext cx="1569726" cy="62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1100" b="1" i="0" kern="1200" dirty="0">
              <a:solidFill>
                <a:schemeClr val="tx1">
                  <a:lumMod val="65000"/>
                  <a:lumOff val="35000"/>
                </a:schemeClr>
              </a:solidFill>
            </a:rPr>
            <a:t>Исследование причин</a:t>
          </a:r>
          <a:r>
            <a:rPr lang="ru-RU" sz="1100" b="0" i="0" kern="1200" dirty="0">
              <a:solidFill>
                <a:schemeClr val="tx1">
                  <a:lumMod val="65000"/>
                  <a:lumOff val="35000"/>
                </a:schemeClr>
              </a:solidFill>
            </a:rPr>
            <a:t> оттока многопродуктовых клиентов.</a:t>
          </a:r>
          <a:endParaRPr lang="en-US" sz="11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6063140" y="1661732"/>
        <a:ext cx="1569726" cy="6278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f45d3f5aec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9" name="Google Shape;209;gf45d3f5aec_0_84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152375" rIns="152375" bIns="152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3a5e79da30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0" name="Google Shape;250;g13a5e79da30_0_1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13a5e79da30_0_10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f45d3f5aec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3" name="Google Shape;263;gf45d3f5aec_0_2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f45d3f5aec_0_2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3c8f144e0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76" name="Google Shape;276;g13c8f144e0a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g13c8f144e0a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3a5e79da30_8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9" name="Google Shape;289;g13a5e79da30_8_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0" name="Google Shape;290;g13a5e79da30_8_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1874089cc0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02" name="Google Shape;302;g1874089cc04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g1874089cc04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a9e95685d1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15" name="Google Shape;315;g2a9e95685d1_0_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2a9e95685d1_0_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сновной слайд 0">
  <p:cSld name="Основной слайд 0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descr="logo-1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10711" y="4608594"/>
            <a:ext cx="898646" cy="19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x">
  <p:cSld name="TITLE_AND_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6724494" y="2909455"/>
            <a:ext cx="3001200" cy="3001200"/>
          </a:xfrm>
          <a:prstGeom prst="ellipse">
            <a:avLst/>
          </a:prstGeom>
          <a:gradFill>
            <a:gsLst>
              <a:gs pos="0">
                <a:srgbClr val="91ADE9">
                  <a:alpha val="0"/>
                </a:srgbClr>
              </a:gs>
              <a:gs pos="10000">
                <a:srgbClr val="91ADE9">
                  <a:alpha val="0"/>
                </a:srgbClr>
              </a:gs>
              <a:gs pos="90000">
                <a:srgbClr val="91ADE9">
                  <a:alpha val="20000"/>
                </a:srgbClr>
              </a:gs>
              <a:gs pos="100000">
                <a:srgbClr val="91ADE9">
                  <a:alpha val="20000"/>
                </a:srgbClr>
              </a:gs>
            </a:gsLst>
            <a:lin ang="2700006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-755576" y="-1543164"/>
            <a:ext cx="5045100" cy="5045100"/>
          </a:xfrm>
          <a:prstGeom prst="ellipse">
            <a:avLst/>
          </a:prstGeom>
          <a:gradFill>
            <a:gsLst>
              <a:gs pos="0">
                <a:srgbClr val="91ADE9">
                  <a:alpha val="0"/>
                </a:srgbClr>
              </a:gs>
              <a:gs pos="75000">
                <a:srgbClr val="91ADE9">
                  <a:alpha val="20000"/>
                </a:srgbClr>
              </a:gs>
              <a:gs pos="100000">
                <a:srgbClr val="91ADE9">
                  <a:alpha val="2000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02046" y="386490"/>
            <a:ext cx="677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2E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039804" y="481517"/>
            <a:ext cx="370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6" name="Google Shape;16;p3" descr="logo-1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10711" y="4608594"/>
            <a:ext cx="898646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719138" y="1212117"/>
            <a:ext cx="4938600" cy="10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Нетология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039804" y="481517"/>
            <a:ext cx="370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6473338" y="2472341"/>
            <a:ext cx="3001200" cy="3001200"/>
          </a:xfrm>
          <a:prstGeom prst="ellipse">
            <a:avLst/>
          </a:prstGeom>
          <a:gradFill>
            <a:gsLst>
              <a:gs pos="0">
                <a:srgbClr val="91ADE9">
                  <a:alpha val="0"/>
                </a:srgbClr>
              </a:gs>
              <a:gs pos="100000">
                <a:srgbClr val="FFFFFF">
                  <a:alpha val="16078"/>
                </a:srgbClr>
              </a:gs>
            </a:gsLst>
            <a:lin ang="2700006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-262173" y="-1302386"/>
            <a:ext cx="7071900" cy="7071900"/>
          </a:xfrm>
          <a:prstGeom prst="ellipse">
            <a:avLst/>
          </a:prstGeom>
          <a:gradFill>
            <a:gsLst>
              <a:gs pos="0">
                <a:srgbClr val="91ADE9">
                  <a:alpha val="0"/>
                </a:srgbClr>
              </a:gs>
              <a:gs pos="100000">
                <a:srgbClr val="FFFFFF">
                  <a:alpha val="16078"/>
                </a:srgbClr>
              </a:gs>
            </a:gsLst>
            <a:lin ang="2700006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p4" descr="logo-1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10711" y="4608594"/>
            <a:ext cx="898646" cy="19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Нетология">
  <p:cSld name="MAIN_POI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25966" y="340424"/>
            <a:ext cx="63678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  <a:defRPr sz="4800">
                <a:solidFill>
                  <a:srgbClr val="FFFFFF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25" name="Google Shape;25;p5" descr="Google Shape;56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22460" y="411969"/>
            <a:ext cx="595574" cy="595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Нетология" type="titl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719138" y="1328408"/>
            <a:ext cx="7705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2E"/>
              </a:buClr>
              <a:buSzPts val="5200"/>
              <a:buNone/>
              <a:defRPr sz="52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039804" y="481517"/>
            <a:ext cx="370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ftr" idx="11"/>
          </p:nvPr>
        </p:nvSpPr>
        <p:spPr>
          <a:xfrm>
            <a:off x="731263" y="4608594"/>
            <a:ext cx="30861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FA1"/>
              </a:buClr>
              <a:buSzPts val="1000"/>
              <a:buNone/>
              <a:defRPr sz="1000">
                <a:solidFill>
                  <a:srgbClr val="9E9FA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30" name="Google Shape;30;p6" descr="logo-1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10711" y="4608594"/>
            <a:ext cx="898646" cy="19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Нетология">
  <p:cSld name="TITLE_AND_BODY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702046" y="386490"/>
            <a:ext cx="677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039804" y="481517"/>
            <a:ext cx="370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4" name="Google Shape;34;p7" descr="logo-14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7656" y="4608594"/>
            <a:ext cx="901701" cy="19132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719138" y="1212117"/>
            <a:ext cx="4938600" cy="10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Нетология">
  <p:cSld name="MAIN_POINT_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725966" y="340424"/>
            <a:ext cx="63678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  <a:defRPr sz="4800">
                <a:solidFill>
                  <a:srgbClr val="FFFFFF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38" name="Google Shape;38;p8" descr="Google Shape;56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22460" y="411969"/>
            <a:ext cx="595574" cy="595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2667763" y="473202"/>
            <a:ext cx="3926681" cy="3921919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92" y="823791"/>
            <a:ext cx="7738814" cy="3296241"/>
          </a:xfrm>
        </p:spPr>
        <p:txBody>
          <a:bodyPr anchor="ctr">
            <a:noAutofit/>
          </a:bodyPr>
          <a:lstStyle>
            <a:lvl1pPr algn="ctr">
              <a:defRPr sz="7500" spc="6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1284" y="4484398"/>
            <a:ext cx="6034030" cy="55670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500" b="1" i="0" cap="all" spc="300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892" y="4781759"/>
            <a:ext cx="1747292" cy="261347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5249" y="4781759"/>
            <a:ext cx="3086100" cy="259347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00414" y="4781759"/>
            <a:ext cx="1747292" cy="259347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12598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93999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65154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197" y="805417"/>
            <a:ext cx="6140303" cy="3048470"/>
          </a:xfrm>
        </p:spPr>
        <p:txBody>
          <a:bodyPr anchor="b">
            <a:normAutofit/>
          </a:bodyPr>
          <a:lstStyle>
            <a:lvl1pPr>
              <a:defRPr sz="6300" spc="6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2198" y="3869836"/>
            <a:ext cx="5263116" cy="7133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1" i="0" cap="all" spc="300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27410" y="4781759"/>
            <a:ext cx="1120460" cy="261347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59298" y="4781759"/>
            <a:ext cx="3086100" cy="259347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56825" y="4781759"/>
            <a:ext cx="1115675" cy="259347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110979" cy="51435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86401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1714500"/>
            <a:ext cx="3600450" cy="27146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5847" y="1714500"/>
            <a:ext cx="3600450" cy="27146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0231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546" y="285750"/>
            <a:ext cx="7629525" cy="11201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9" y="1649725"/>
            <a:ext cx="3600450" cy="47439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425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2975" y="2181826"/>
            <a:ext cx="3600450" cy="224729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75398" y="1649725"/>
            <a:ext cx="3600450" cy="47439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425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75398" y="2181826"/>
            <a:ext cx="3600450" cy="224729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6022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130642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30643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5542359" y="0"/>
            <a:ext cx="3601641" cy="51435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4" y="342900"/>
            <a:ext cx="2319086" cy="897503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425" b="1" i="0" cap="all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788" y="690283"/>
            <a:ext cx="4618814" cy="373884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4" y="1306002"/>
            <a:ext cx="2319086" cy="312312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900"/>
              </a:spcBef>
              <a:buNone/>
              <a:defRPr sz="12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3789" y="4781759"/>
            <a:ext cx="925016" cy="261347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4781759"/>
            <a:ext cx="2611634" cy="25934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8261" y="4781759"/>
            <a:ext cx="924342" cy="259347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1259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72345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2598" y="1"/>
            <a:ext cx="5516689" cy="514349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5542359" y="0"/>
            <a:ext cx="3601641" cy="51435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 title="left edge border"/>
          <p:cNvSpPr/>
          <p:nvPr/>
        </p:nvSpPr>
        <p:spPr>
          <a:xfrm>
            <a:off x="0" y="0"/>
            <a:ext cx="21259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3" y="342900"/>
            <a:ext cx="2319088" cy="897503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425" b="1" i="0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3" y="1306002"/>
            <a:ext cx="2319088" cy="312312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900"/>
              </a:spcBef>
              <a:buNone/>
              <a:defRPr sz="12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4463" y="4781759"/>
            <a:ext cx="924342" cy="261347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4781759"/>
            <a:ext cx="2611634" cy="25934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5676" y="4781759"/>
            <a:ext cx="925830" cy="259347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054269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42955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49741" y="286790"/>
            <a:ext cx="1119099" cy="420030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5" y="286789"/>
            <a:ext cx="6294439" cy="420030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525534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. Титульник neo">
  <p:cSld name="12. Титульник neo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5294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. Отбивка 2 neo">
  <p:cSld name="15. Отбивка 2 neo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63535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ftr" idx="11"/>
          </p:nvPr>
        </p:nvSpPr>
        <p:spPr>
          <a:xfrm>
            <a:off x="731263" y="4608594"/>
            <a:ext cx="30861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FA1"/>
              </a:buClr>
              <a:buSzPts val="1000"/>
              <a:buFont typeface="Proxima Nova"/>
              <a:buNone/>
              <a:defRPr sz="1000" b="0" i="0" u="none" strike="noStrike" cap="none">
                <a:solidFill>
                  <a:srgbClr val="9E9FA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731263" y="408709"/>
            <a:ext cx="6776400" cy="5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2E"/>
              </a:buClr>
              <a:buSzPts val="2000"/>
              <a:buFont typeface="Proxima Nova"/>
              <a:buNone/>
              <a:defRPr sz="2000" b="1" i="0" u="none" strike="noStrike" cap="none">
                <a:solidFill>
                  <a:srgbClr val="31312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039804" y="487287"/>
            <a:ext cx="370500" cy="1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3">
          <p15:clr>
            <a:srgbClr val="F26B43"/>
          </p15:clr>
        </p15:guide>
        <p15:guide id="2" pos="5307">
          <p15:clr>
            <a:srgbClr val="F26B43"/>
          </p15:clr>
        </p15:guide>
        <p15:guide id="3" orient="horz" pos="259">
          <p15:clr>
            <a:srgbClr val="F26B43"/>
          </p15:clr>
        </p15:guide>
        <p15:guide id="4" orient="horz" pos="2845">
          <p15:clr>
            <a:srgbClr val="F26B43"/>
          </p15:clr>
        </p15:guide>
        <p15:guide id="5" orient="horz" pos="577">
          <p15:clr>
            <a:srgbClr val="F26B43"/>
          </p15:clr>
        </p15:guide>
        <p15:guide id="6" orient="horz" pos="75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8758" y="286789"/>
            <a:ext cx="7633742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8" y="1714501"/>
            <a:ext cx="7633742" cy="2695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8758" y="4781759"/>
            <a:ext cx="1747292" cy="261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81759"/>
            <a:ext cx="3086100" cy="259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4781759"/>
            <a:ext cx="2114549" cy="259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664369" cy="51435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 title="right edge border"/>
          <p:cNvSpPr/>
          <p:nvPr/>
        </p:nvSpPr>
        <p:spPr>
          <a:xfrm>
            <a:off x="8931402" y="0"/>
            <a:ext cx="21259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331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825" kern="1200" cap="all" spc="1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05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05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27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1.png"/><Relationship Id="rId5" Type="http://schemas.openxmlformats.org/officeDocument/2006/relationships/image" Target="../media/image7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7"/>
          <p:cNvSpPr txBox="1"/>
          <p:nvPr/>
        </p:nvSpPr>
        <p:spPr>
          <a:xfrm>
            <a:off x="755407" y="347957"/>
            <a:ext cx="7820557" cy="1268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ru-RU" sz="4400" dirty="0">
                <a:solidFill>
                  <a:schemeClr val="tx2"/>
                </a:solidFill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  <a:sym typeface="Proxima Nova"/>
              </a:rPr>
              <a:t>Дипломная работа по программе «Аналитик данных»</a:t>
            </a:r>
            <a:endParaRPr sz="4400" b="1" i="0" u="none" strike="noStrike" cap="none" dirty="0">
              <a:solidFill>
                <a:schemeClr val="tx2"/>
              </a:solidFill>
              <a:latin typeface="+mn-lt"/>
              <a:ea typeface="Sans Serif Collection" panose="020B0502040504020204" pitchFamily="34" charset="0"/>
              <a:cs typeface="Sans Serif Collection" panose="020B0502040504020204" pitchFamily="34" charset="0"/>
              <a:sym typeface="Proxima Nova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2" name="Google Shape;212;p37"/>
          <p:cNvSpPr txBox="1"/>
          <p:nvPr/>
        </p:nvSpPr>
        <p:spPr>
          <a:xfrm>
            <a:off x="755407" y="2957109"/>
            <a:ext cx="4109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5725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7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Proxima Nova"/>
                <a:cs typeface="Proxima Nova"/>
                <a:sym typeface="Proxima Nova"/>
              </a:rPr>
              <a:t>Ершов К. А.</a:t>
            </a:r>
            <a:endParaRPr sz="17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7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Proxima Nova"/>
                <a:cs typeface="Proxima Nova"/>
                <a:sym typeface="Proxima Nova"/>
              </a:rPr>
              <a:t>Группа: DA-120 </a:t>
            </a:r>
            <a:endParaRPr sz="17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700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700" dirty="0">
              <a:solidFill>
                <a:schemeClr val="tx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700" dirty="0">
              <a:solidFill>
                <a:schemeClr val="tx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7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Proxima Nova"/>
                <a:cs typeface="Proxima Nova"/>
                <a:sym typeface="Proxima Nova"/>
              </a:rPr>
              <a:t>2025 г.</a:t>
            </a:r>
            <a:endParaRPr sz="17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Proxima Nova"/>
              <a:cs typeface="Proxima Nova"/>
              <a:sym typeface="Proxima Nov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88A6E-BDC9-5DAC-D5AC-8C72C74BFDE5}"/>
              </a:ext>
            </a:extLst>
          </p:cNvPr>
          <p:cNvSpPr txBox="1"/>
          <p:nvPr/>
        </p:nvSpPr>
        <p:spPr>
          <a:xfrm>
            <a:off x="663869" y="2033134"/>
            <a:ext cx="51411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«Анализ оттока клиентов банка (поиск инсайтов, </a:t>
            </a:r>
          </a:p>
          <a:p>
            <a:r>
              <a:rPr lang="ru-RU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составление рекомендаций стейкхолдерам)»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B37C3C6-FE3F-84F7-6850-1000158B5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101" y="4688826"/>
            <a:ext cx="1940312" cy="2134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0"/>
          <p:cNvSpPr txBox="1"/>
          <p:nvPr/>
        </p:nvSpPr>
        <p:spPr>
          <a:xfrm>
            <a:off x="3640470" y="504930"/>
            <a:ext cx="5035381" cy="2584779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spcFirstLastPara="1" vert="horz" lIns="91440" tIns="45720" rIns="91440" bIns="45720" rtlCol="0" anchor="b" anchorCtr="0">
            <a:normAutofit fontScale="85000" lnSpcReduction="10000"/>
          </a:bodyPr>
          <a:lstStyle/>
          <a:p>
            <a:pPr marR="0" lvl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ts val="4800"/>
            </a:pPr>
            <a:r>
              <a:rPr lang="en-US" sz="3600" dirty="0">
                <a:solidFill>
                  <a:schemeClr val="tx2"/>
                </a:solidFill>
                <a:latin typeface="Corbel" panose="020B0503020204020204" pitchFamily="34" charset="0"/>
                <a:sym typeface="Proxima Nova"/>
              </a:rPr>
              <a:t>Описание бизнес-задачи</a:t>
            </a:r>
            <a:r>
              <a:rPr lang="ru-RU" sz="3600" dirty="0">
                <a:solidFill>
                  <a:schemeClr val="tx2"/>
                </a:solidFill>
                <a:latin typeface="Corbel" panose="020B0503020204020204" pitchFamily="34" charset="0"/>
                <a:sym typeface="Proxima Nova"/>
              </a:rPr>
              <a:t> и стейкхолдеры</a:t>
            </a:r>
            <a:endParaRPr lang="en-US" dirty="0">
              <a:solidFill>
                <a:schemeClr val="tx2"/>
              </a:solidFill>
              <a:latin typeface="Corbel" panose="020B0503020204020204" pitchFamily="34" charset="0"/>
              <a:sym typeface="Proxima Nova"/>
            </a:endParaRPr>
          </a:p>
          <a:p>
            <a:pPr marL="342900" marR="0" lvl="0" indent="-34290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ts val="4800"/>
              <a:buFont typeface="Courier New" panose="02070309020205020404" pitchFamily="49" charset="0"/>
              <a:buChar char="o"/>
            </a:pPr>
            <a:endParaRPr lang="en-US" sz="2000" b="1" kern="1200" cap="all" dirty="0">
              <a:solidFill>
                <a:schemeClr val="tx1"/>
              </a:solidFill>
              <a:latin typeface="+mj-lt"/>
              <a:ea typeface="+mj-ea"/>
              <a:cs typeface="+mj-cs"/>
              <a:sym typeface="Proxima Nova"/>
            </a:endParaRPr>
          </a:p>
          <a:p>
            <a:pPr lvl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ts val="4800"/>
            </a:pPr>
            <a:r>
              <a:rPr lang="ru-RU" sz="2000" kern="12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j-ea"/>
                <a:cs typeface="+mj-cs"/>
              </a:rPr>
              <a:t>Цель проекта</a:t>
            </a:r>
            <a:r>
              <a:rPr lang="ru-RU" sz="2000" b="1" kern="12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j-ea"/>
                <a:cs typeface="+mj-cs"/>
              </a:rPr>
              <a:t>: </a:t>
            </a:r>
          </a:p>
          <a:p>
            <a:pPr lvl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</a:pPr>
            <a:r>
              <a:rPr lang="ru-RU" sz="2000" kern="1200" dirty="0">
                <a:solidFill>
                  <a:schemeClr val="tx1"/>
                </a:solidFill>
                <a:latin typeface="+mn-lt"/>
                <a:ea typeface="+mj-ea"/>
                <a:cs typeface="+mj-cs"/>
                <a:sym typeface="Proxima Nova"/>
              </a:rPr>
              <a:t>1. </a:t>
            </a:r>
            <a:r>
              <a:rPr lang="ru-RU" sz="2000" b="0" i="0" u="none" strike="noStrike" kern="1200" dirty="0">
                <a:solidFill>
                  <a:schemeClr val="tx1"/>
                </a:solidFill>
                <a:latin typeface="+mn-lt"/>
                <a:ea typeface="+mj-ea"/>
                <a:cs typeface="+mj-cs"/>
                <a:sym typeface="Proxima Nova"/>
              </a:rPr>
              <a:t>Снизить финансовые потери от оттока клиентов</a:t>
            </a:r>
          </a:p>
          <a:p>
            <a:pPr lvl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</a:pPr>
            <a:r>
              <a:rPr lang="ru-RU" sz="2000" kern="1200" dirty="0">
                <a:solidFill>
                  <a:schemeClr val="tx1"/>
                </a:solidFill>
                <a:latin typeface="+mn-lt"/>
                <a:ea typeface="+mj-ea"/>
                <a:cs typeface="+mj-cs"/>
                <a:sym typeface="Proxima Nova"/>
              </a:rPr>
              <a:t>2. Повысить лояльность ключевых клиентов (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j-ea"/>
                <a:cs typeface="+mj-cs"/>
                <a:sym typeface="Proxima Nova"/>
              </a:rPr>
              <a:t>LTV</a:t>
            </a:r>
            <a:r>
              <a:rPr lang="ru-RU" sz="2000" kern="1200" dirty="0">
                <a:solidFill>
                  <a:schemeClr val="tx1"/>
                </a:solidFill>
                <a:latin typeface="+mn-lt"/>
                <a:ea typeface="+mj-ea"/>
                <a:cs typeface="+mj-cs"/>
                <a:sym typeface="Proxima Nova"/>
              </a:rPr>
              <a:t>)</a:t>
            </a:r>
            <a:endParaRPr lang="en-US" sz="2000" kern="1200" dirty="0">
              <a:solidFill>
                <a:schemeClr val="tx1"/>
              </a:solidFill>
              <a:latin typeface="+mn-lt"/>
              <a:ea typeface="+mj-ea"/>
              <a:cs typeface="+mj-cs"/>
              <a:sym typeface="Proxima Nova"/>
            </a:endParaRPr>
          </a:p>
          <a:p>
            <a:pPr lvl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</a:pPr>
            <a:r>
              <a:rPr lang="ru-RU" sz="2000" b="0" i="0" u="none" strike="noStrike" kern="1200" dirty="0">
                <a:solidFill>
                  <a:schemeClr val="tx1"/>
                </a:solidFill>
                <a:latin typeface="+mn-lt"/>
                <a:ea typeface="+mj-ea"/>
                <a:cs typeface="+mj-cs"/>
                <a:sym typeface="Proxima Nova"/>
              </a:rPr>
              <a:t>3. Выявить и устранить причины недовольства</a:t>
            </a:r>
            <a:endParaRPr lang="en-US" sz="2000" b="0" i="0" u="none" strike="noStrike" kern="1200" dirty="0">
              <a:solidFill>
                <a:schemeClr val="tx1"/>
              </a:solidFill>
              <a:latin typeface="+mn-lt"/>
              <a:ea typeface="+mj-ea"/>
              <a:cs typeface="+mj-cs"/>
              <a:sym typeface="Proxima Nova"/>
            </a:endParaRPr>
          </a:p>
        </p:txBody>
      </p:sp>
      <p:sp>
        <p:nvSpPr>
          <p:cNvPr id="254" name="Google Shape;254;p40"/>
          <p:cNvSpPr/>
          <p:nvPr/>
        </p:nvSpPr>
        <p:spPr>
          <a:xfrm>
            <a:off x="3557983" y="3505806"/>
            <a:ext cx="5526544" cy="1152181"/>
          </a:xfrm>
          <a:prstGeom prst="ellipse">
            <a:avLst/>
          </a:prstGeom>
          <a:noFill/>
          <a:ln w="19050">
            <a:noFill/>
            <a:prstDash val="dash"/>
          </a:ln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  <a:buSzPts val="4800"/>
            </a:pPr>
            <a:r>
              <a:rPr lang="ru-RU" dirty="0">
                <a:solidFill>
                  <a:schemeClr val="tx1"/>
                </a:solidFill>
                <a:latin typeface="+mn-lt"/>
              </a:rPr>
              <a:t>Ключевая метрика: Уровень оттока = 20.4% </a:t>
            </a:r>
          </a:p>
          <a:p>
            <a:pPr algn="r">
              <a:lnSpc>
                <a:spcPct val="90000"/>
              </a:lnSpc>
              <a:spcBef>
                <a:spcPts val="1000"/>
              </a:spcBef>
              <a:buSzPts val="4800"/>
            </a:pPr>
            <a:r>
              <a:rPr lang="ru-RU" sz="1100" i="1" dirty="0">
                <a:solidFill>
                  <a:schemeClr val="tx1"/>
                </a:solidFill>
              </a:rPr>
              <a:t>(Каждый пятый клиент прекращает сотрудничество)</a:t>
            </a:r>
            <a:endParaRPr lang="ru-RU" sz="1100" dirty="0">
              <a:solidFill>
                <a:schemeClr val="tx1"/>
              </a:solidFill>
              <a:latin typeface="+mn-lt"/>
            </a:endParaRPr>
          </a:p>
          <a:p>
            <a:pPr marR="0"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800"/>
            </a:pPr>
            <a:endParaRPr lang="en-US" sz="1500" b="0" i="0" u="none" strike="noStrike" kern="1200" cap="none" dirty="0">
              <a:solidFill>
                <a:schemeClr val="tx1"/>
              </a:solidFill>
              <a:latin typeface="+mn-lt"/>
              <a:ea typeface="+mn-ea"/>
              <a:cs typeface="+mn-cs"/>
              <a:sym typeface="Proxima Nova Semibold"/>
            </a:endParaRPr>
          </a:p>
        </p:txBody>
      </p:sp>
      <p:pic>
        <p:nvPicPr>
          <p:cNvPr id="9" name="Рисунок 8" descr="Изображение выглядит как снимок экрана, Графика, графический дизайн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4F663EA-9797-EB1F-15E4-C3A23D123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620" y="504930"/>
            <a:ext cx="1888026" cy="1888026"/>
          </a:xfrm>
          <a:prstGeom prst="rect">
            <a:avLst/>
          </a:prstGeom>
        </p:spPr>
      </p:pic>
      <p:pic>
        <p:nvPicPr>
          <p:cNvPr id="17" name="Рисунок 16" descr="Изображение выглядит как графическая вставка, мультфильм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54EE7F3-9DC5-828C-1C80-9F06CC0FD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248" y="3736480"/>
            <a:ext cx="594743" cy="594743"/>
          </a:xfrm>
          <a:prstGeom prst="rect">
            <a:avLst/>
          </a:prstGeom>
        </p:spPr>
      </p:pic>
      <p:pic>
        <p:nvPicPr>
          <p:cNvPr id="18" name="Рисунок 17" descr="Изображение выглядит как графическая вставка, мультфильм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908916E-058E-E657-B38C-4705424591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9991" y="3736480"/>
            <a:ext cx="594743" cy="594743"/>
          </a:xfrm>
          <a:prstGeom prst="rect">
            <a:avLst/>
          </a:prstGeom>
        </p:spPr>
      </p:pic>
      <p:pic>
        <p:nvPicPr>
          <p:cNvPr id="19" name="Рисунок 18" descr="Изображение выглядит как графическая вставка, мультфильм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9555D21-0097-ED80-7F4A-66AAF6D476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9477" y="3736480"/>
            <a:ext cx="594743" cy="594743"/>
          </a:xfrm>
          <a:prstGeom prst="rect">
            <a:avLst/>
          </a:prstGeom>
        </p:spPr>
      </p:pic>
      <p:pic>
        <p:nvPicPr>
          <p:cNvPr id="20" name="Рисунок 19" descr="Изображение выглядит как графическая вставка, мультфильм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2208576-B422-500C-D7A7-E43AA883D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4734" y="3736480"/>
            <a:ext cx="594743" cy="594743"/>
          </a:xfrm>
          <a:prstGeom prst="rect">
            <a:avLst/>
          </a:prstGeom>
        </p:spPr>
      </p:pic>
      <p:pic>
        <p:nvPicPr>
          <p:cNvPr id="21" name="Рисунок 20" descr="Изображение выглядит как графическая вставка, мультфильм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9A15C26-B9BC-1F10-41C8-435227796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4220" y="3736479"/>
            <a:ext cx="594743" cy="594743"/>
          </a:xfrm>
          <a:prstGeom prst="rect">
            <a:avLst/>
          </a:prstGeom>
        </p:spPr>
      </p:pic>
      <p:pic>
        <p:nvPicPr>
          <p:cNvPr id="37" name="Рисунок 36" descr="Изображение выглядит как символ, линия, Красочность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3B40A39-BF27-C2B7-B2B6-1F7BD375EF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247020" y="3862079"/>
            <a:ext cx="469143" cy="4691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2"/>
          <p:cNvSpPr txBox="1"/>
          <p:nvPr/>
        </p:nvSpPr>
        <p:spPr>
          <a:xfrm>
            <a:off x="1007327" y="983172"/>
            <a:ext cx="2490439" cy="52322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ts val="4800"/>
            </a:pPr>
            <a:r>
              <a:rPr lang="ru-RU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Данные для анализа:</a:t>
            </a:r>
            <a:endParaRPr lang="en-US" sz="1800" b="0" i="0" u="none" strike="noStrike" kern="1200" cap="all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j-ea"/>
              <a:cs typeface="+mj-cs"/>
              <a:sym typeface="Proxima Nov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220CFE-3EAE-C822-BC77-95B6E65BE82E}"/>
              </a:ext>
            </a:extLst>
          </p:cNvPr>
          <p:cNvSpPr txBox="1"/>
          <p:nvPr/>
        </p:nvSpPr>
        <p:spPr>
          <a:xfrm>
            <a:off x="1007327" y="1432518"/>
            <a:ext cx="4572000" cy="866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10,000</a:t>
            </a: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 клиентов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17</a:t>
            </a: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 признаков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Данные без пропусков и дубликатов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46137B-F5DF-B5B8-0D06-49959E7922E8}"/>
              </a:ext>
            </a:extLst>
          </p:cNvPr>
          <p:cNvSpPr txBox="1"/>
          <p:nvPr/>
        </p:nvSpPr>
        <p:spPr>
          <a:xfrm>
            <a:off x="1007327" y="2239455"/>
            <a:ext cx="40798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Ключевые признаки:</a:t>
            </a: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 География, Возраст, Баланс, Активность, Количество продуктов.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0C435CD-38AE-9D2B-5DA0-FD5F47AE6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7186" y="303810"/>
            <a:ext cx="3615589" cy="43945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499DC0-F3D4-1941-4B4A-D952BD826D3D}"/>
              </a:ext>
            </a:extLst>
          </p:cNvPr>
          <p:cNvSpPr txBox="1"/>
          <p:nvPr/>
        </p:nvSpPr>
        <p:spPr>
          <a:xfrm>
            <a:off x="1007327" y="161929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i="0" dirty="0">
                <a:solidFill>
                  <a:schemeClr val="tx2"/>
                </a:solidFill>
                <a:effectLst/>
                <a:latin typeface="+mn-lt"/>
              </a:rPr>
              <a:t>Исходные данные</a:t>
            </a:r>
            <a:endParaRPr lang="en-US" sz="2400" dirty="0">
              <a:solidFill>
                <a:schemeClr val="tx2"/>
              </a:solidFill>
              <a:latin typeface="+mn-lt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6FB8DDC-2538-9A29-EE15-3320A4F79C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240" y="3005787"/>
            <a:ext cx="1753925" cy="175392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4"/>
          <p:cNvSpPr txBox="1"/>
          <p:nvPr/>
        </p:nvSpPr>
        <p:spPr>
          <a:xfrm>
            <a:off x="826519" y="-29279"/>
            <a:ext cx="6555587" cy="1450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80000"/>
              </a:lnSpc>
              <a:spcBef>
                <a:spcPts val="1900"/>
              </a:spcBef>
              <a:spcAft>
                <a:spcPts val="1900"/>
              </a:spcAft>
              <a:buSzPts val="4800"/>
            </a:pPr>
            <a:r>
              <a:rPr lang="ru-RU" sz="24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Портрет уходящего клиента (Главный инсайт)</a:t>
            </a:r>
            <a:endParaRPr sz="2400" i="0" u="none" strike="noStrike" cap="none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Proxima Nov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18A996-7F12-AC3D-9E8F-5ACB155FFACC}"/>
              </a:ext>
            </a:extLst>
          </p:cNvPr>
          <p:cNvSpPr txBox="1"/>
          <p:nvPr/>
        </p:nvSpPr>
        <p:spPr>
          <a:xfrm>
            <a:off x="885992" y="123629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bg1"/>
                </a:solidFill>
                <a:effectLst/>
                <a:latin typeface="+mn-lt"/>
              </a:rPr>
              <a:t>Кто уходит из банка?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AE8039-D512-4A71-1F23-8E970F0F89DF}"/>
              </a:ext>
            </a:extLst>
          </p:cNvPr>
          <p:cNvSpPr txBox="1"/>
          <p:nvPr/>
        </p:nvSpPr>
        <p:spPr>
          <a:xfrm>
            <a:off x="885992" y="495175"/>
            <a:ext cx="5954751" cy="3814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30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Из Германии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 (32% оттока)</a:t>
            </a:r>
          </a:p>
          <a:p>
            <a:pPr marL="285750" indent="-285750" algn="l">
              <a:lnSpc>
                <a:spcPct val="300000"/>
              </a:lnSpc>
              <a:spcBef>
                <a:spcPts val="450"/>
              </a:spcBef>
              <a:buFont typeface="Wingdings" panose="05000000000000000000" pitchFamily="2" charset="2"/>
              <a:buChar char="§"/>
            </a:pP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Старше 45 лет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 (Медианный возраст ушедших)</a:t>
            </a:r>
          </a:p>
          <a:p>
            <a:pPr marL="285750" indent="-285750" algn="l">
              <a:lnSpc>
                <a:spcPct val="300000"/>
              </a:lnSpc>
              <a:spcBef>
                <a:spcPts val="450"/>
              </a:spcBef>
              <a:buFont typeface="Wingdings" panose="05000000000000000000" pitchFamily="2" charset="2"/>
              <a:buChar char="§"/>
            </a:pP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С высоким балансом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 (&gt;109 тыс.)</a:t>
            </a:r>
          </a:p>
          <a:p>
            <a:pPr marL="285750" indent="-285750" algn="l">
              <a:lnSpc>
                <a:spcPct val="300000"/>
              </a:lnSpc>
              <a:spcBef>
                <a:spcPts val="450"/>
              </a:spcBef>
              <a:buFont typeface="Wingdings" panose="05000000000000000000" pitchFamily="2" charset="2"/>
              <a:buChar char="§"/>
            </a:pPr>
            <a:r>
              <a:rPr lang="ru-RU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Неактивный</a:t>
            </a:r>
            <a:r>
              <a:rPr lang="ru-RU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 пользователь</a:t>
            </a:r>
          </a:p>
        </p:txBody>
      </p:sp>
      <p:pic>
        <p:nvPicPr>
          <p:cNvPr id="7" name="Рисунок 6" descr="Изображение выглядит как снимок экрана, Графика, Красочность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BB49417-E19C-C249-F092-076DA2936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8121" y="667626"/>
            <a:ext cx="978628" cy="978628"/>
          </a:xfrm>
          <a:prstGeom prst="rect">
            <a:avLst/>
          </a:prstGeom>
        </p:spPr>
      </p:pic>
      <p:pic>
        <p:nvPicPr>
          <p:cNvPr id="9" name="Рисунок 8" descr="Изображение выглядит как Графика, Шрифт, логотип,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2737B1F-D10E-23C7-DEDC-358B71BA6F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902" y="1605629"/>
            <a:ext cx="978628" cy="978628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A7F4A22-DCEF-B277-6D70-1D940BD7ED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9530" y="1975200"/>
            <a:ext cx="239485" cy="239485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символ, логотип, дизайн, творческий подход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48BC076-036B-C679-893F-10DA2AF806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8678" y="2518619"/>
            <a:ext cx="978628" cy="978628"/>
          </a:xfrm>
          <a:prstGeom prst="rect">
            <a:avLst/>
          </a:prstGeom>
        </p:spPr>
      </p:pic>
      <p:pic>
        <p:nvPicPr>
          <p:cNvPr id="15" name="Рисунок 14" descr="Изображение выглядит как символ, Графика, пиксель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C93CF60-D688-28AC-D616-DE51C443A5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2304" y="3616275"/>
            <a:ext cx="978628" cy="9786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6"/>
          <p:cNvSpPr txBox="1"/>
          <p:nvPr/>
        </p:nvSpPr>
        <p:spPr>
          <a:xfrm>
            <a:off x="776910" y="148100"/>
            <a:ext cx="4013108" cy="803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80000"/>
              </a:lnSpc>
              <a:spcBef>
                <a:spcPts val="1900"/>
              </a:spcBef>
              <a:spcAft>
                <a:spcPts val="1900"/>
              </a:spcAft>
              <a:buSzPts val="4800"/>
            </a:pPr>
            <a:r>
              <a:rPr lang="ru-RU" sz="2400" b="1" dirty="0">
                <a:solidFill>
                  <a:schemeClr val="tx2"/>
                </a:solidFill>
                <a:latin typeface="+mn-lt"/>
              </a:rPr>
              <a:t>Анализ оттока по географии</a:t>
            </a:r>
            <a:endParaRPr sz="2400" b="1" i="0" u="none" strike="noStrike" cap="none" dirty="0">
              <a:solidFill>
                <a:schemeClr val="tx2"/>
              </a:solidFill>
              <a:latin typeface="+mn-lt"/>
              <a:ea typeface="Proxima Nova"/>
              <a:cs typeface="Proxima Nova"/>
              <a:sym typeface="Proxima Nov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AA4BCB-C373-F986-2887-C4F612B56FE7}"/>
              </a:ext>
            </a:extLst>
          </p:cNvPr>
          <p:cNvSpPr txBox="1"/>
          <p:nvPr/>
        </p:nvSpPr>
        <p:spPr>
          <a:xfrm>
            <a:off x="658587" y="129576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Критическая ситуация в Германии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676017-88AA-A75A-5E84-A4E4D919C8B2}"/>
              </a:ext>
            </a:extLst>
          </p:cNvPr>
          <p:cNvSpPr txBox="1"/>
          <p:nvPr/>
        </p:nvSpPr>
        <p:spPr>
          <a:xfrm>
            <a:off x="658587" y="1734237"/>
            <a:ext cx="2835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Отток в Германии в </a:t>
            </a:r>
            <a:r>
              <a:rPr lang="ru-RU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2 раза выше</a:t>
            </a: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, чем во Франции.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E9CAEDB-5629-072F-4883-C9C59FE16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018" y="733758"/>
            <a:ext cx="3795089" cy="4092295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графическая вставка, силуэт, творческий подход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6FF1FB2-C8DA-7F71-A38B-C2DAB59190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657" y="2479727"/>
            <a:ext cx="2248392" cy="22483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8"/>
          <p:cNvSpPr txBox="1"/>
          <p:nvPr/>
        </p:nvSpPr>
        <p:spPr>
          <a:xfrm>
            <a:off x="819087" y="200139"/>
            <a:ext cx="6771177" cy="424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80000"/>
              </a:lnSpc>
              <a:buSzPts val="4800"/>
            </a:pPr>
            <a:r>
              <a:rPr lang="ru-RU" sz="2800" b="1" dirty="0">
                <a:solidFill>
                  <a:schemeClr val="tx2"/>
                </a:solidFill>
                <a:latin typeface="+mn-lt"/>
              </a:rPr>
              <a:t>Анализ оттока по активности и продуктам</a:t>
            </a:r>
            <a:endParaRPr sz="2800" b="0" i="0" u="none" strike="noStrike" cap="none" dirty="0">
              <a:solidFill>
                <a:schemeClr val="tx2"/>
              </a:solidFill>
              <a:latin typeface="+mn-lt"/>
              <a:ea typeface="Proxima Nova"/>
              <a:cs typeface="Proxima Nova"/>
              <a:sym typeface="Proxima Nov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9570A9-6A1F-43C9-5FF1-A8E27D5DC695}"/>
              </a:ext>
            </a:extLst>
          </p:cNvPr>
          <p:cNvSpPr txBox="1"/>
          <p:nvPr/>
        </p:nvSpPr>
        <p:spPr>
          <a:xfrm>
            <a:off x="676632" y="62446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Активность решает, а многопродуктовость убивает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DD1412-7542-BD39-2906-4B72273DAE38}"/>
              </a:ext>
            </a:extLst>
          </p:cNvPr>
          <p:cNvSpPr txBox="1"/>
          <p:nvPr/>
        </p:nvSpPr>
        <p:spPr>
          <a:xfrm>
            <a:off x="819087" y="1228898"/>
            <a:ext cx="4572000" cy="648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Неактивные клиенты уходят </a:t>
            </a:r>
            <a:r>
              <a:rPr lang="ru-RU" sz="16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в 1.9 раза чаще</a:t>
            </a:r>
            <a:r>
              <a:rPr lang="ru-RU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.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Клиенты с 3-4 продуктами - </a:t>
            </a:r>
            <a:r>
              <a:rPr lang="ru-RU" sz="16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отток 83-100%</a:t>
            </a:r>
            <a:r>
              <a:rPr lang="ru-RU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F05075B-7ED1-CD08-696F-2A3343F55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087" y="2086453"/>
            <a:ext cx="3644589" cy="285690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D4CDD48-1FCB-1B2C-3CFD-BA740EBBDE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340" y="2086453"/>
            <a:ext cx="3543350" cy="28569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0"/>
          <p:cNvSpPr txBox="1"/>
          <p:nvPr/>
        </p:nvSpPr>
        <p:spPr>
          <a:xfrm>
            <a:off x="729877" y="0"/>
            <a:ext cx="6838084" cy="743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80000"/>
              </a:lnSpc>
              <a:spcBef>
                <a:spcPts val="1900"/>
              </a:spcBef>
              <a:spcAft>
                <a:spcPts val="1900"/>
              </a:spcAft>
              <a:buClr>
                <a:schemeClr val="dk1"/>
              </a:buClr>
              <a:buSzPts val="1100"/>
            </a:pPr>
            <a:r>
              <a:rPr lang="ru-RU" sz="2800" b="1" dirty="0">
                <a:solidFill>
                  <a:schemeClr val="tx2"/>
                </a:solidFill>
                <a:latin typeface="+mn-lt"/>
              </a:rPr>
              <a:t>Статистическое подтверждение гипотез</a:t>
            </a:r>
            <a:endParaRPr sz="2800" b="1" dirty="0">
              <a:solidFill>
                <a:schemeClr val="tx2"/>
              </a:solidFill>
              <a:latin typeface="+mn-lt"/>
              <a:ea typeface="Proxima Nova"/>
              <a:cs typeface="Proxima Nova"/>
              <a:sym typeface="Proxima Nov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CADA41-AE5E-069C-39D0-817A0CE416B7}"/>
              </a:ext>
            </a:extLst>
          </p:cNvPr>
          <p:cNvSpPr txBox="1"/>
          <p:nvPr/>
        </p:nvSpPr>
        <p:spPr>
          <a:xfrm>
            <a:off x="720583" y="719381"/>
            <a:ext cx="2605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bg1"/>
                </a:solidFill>
                <a:effectLst/>
                <a:latin typeface="+mn-lt"/>
              </a:rPr>
              <a:t>Результаты 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+mn-lt"/>
              </a:rPr>
              <a:t>A/B-</a:t>
            </a:r>
            <a:r>
              <a:rPr lang="ru-RU" sz="1800" b="0" i="0" dirty="0">
                <a:solidFill>
                  <a:schemeClr val="bg1"/>
                </a:solidFill>
                <a:effectLst/>
                <a:latin typeface="+mn-lt"/>
              </a:rPr>
              <a:t>тестов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96D442-D826-46B8-FB47-6E1E1C3EC7D8}"/>
              </a:ext>
            </a:extLst>
          </p:cNvPr>
          <p:cNvSpPr txBox="1"/>
          <p:nvPr/>
        </p:nvSpPr>
        <p:spPr>
          <a:xfrm>
            <a:off x="720583" y="1264441"/>
            <a:ext cx="30857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ru-RU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Возраст:</a:t>
            </a: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 </a:t>
            </a:r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p-</a:t>
            </a:r>
            <a:r>
              <a:rPr lang="ru-R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value</a:t>
            </a:r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 &lt; 0.05 → отвергаем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H0</a:t>
            </a:r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, влияние стат. значимо.</a:t>
            </a:r>
            <a:endParaRPr lang="ru-RU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+mn-lt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CCDA347-B110-CC89-BE3B-97EC6BEDD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6284" y="886000"/>
            <a:ext cx="5032918" cy="18794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8FB357-5435-3C94-1DE8-8C76765857FF}"/>
              </a:ext>
            </a:extLst>
          </p:cNvPr>
          <p:cNvSpPr txBox="1"/>
          <p:nvPr/>
        </p:nvSpPr>
        <p:spPr>
          <a:xfrm>
            <a:off x="729878" y="3299234"/>
            <a:ext cx="308570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450"/>
              </a:spcBef>
              <a:buFont typeface="Courier New" panose="02070309020205020404" pitchFamily="49" charset="0"/>
              <a:buChar char="o"/>
            </a:pPr>
            <a:r>
              <a:rPr lang="ru-RU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Баланс:</a:t>
            </a: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 </a:t>
            </a:r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p-</a:t>
            </a:r>
            <a:r>
              <a:rPr lang="ru-R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value</a:t>
            </a:r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 &lt; 0.05 → отвергаем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H0</a:t>
            </a:r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, влияние стат. значимо.</a:t>
            </a:r>
            <a:endParaRPr lang="ru-RU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+mn-lt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88C06EB-BD55-F191-E1AA-9194D810F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6284" y="3101588"/>
            <a:ext cx="5032917" cy="1876668"/>
          </a:xfrm>
          <a:prstGeom prst="rect">
            <a:avLst/>
          </a:prstGeom>
        </p:spPr>
      </p:pic>
      <p:pic>
        <p:nvPicPr>
          <p:cNvPr id="19" name="Рисунок 18" descr="Изображение выглядит как Графика, Красочность, графический дизайн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9E46111-55FF-FB6E-ED52-DC351C257D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3768" y="1981959"/>
            <a:ext cx="1050372" cy="1050372"/>
          </a:xfrm>
          <a:prstGeom prst="rect">
            <a:avLst/>
          </a:prstGeom>
        </p:spPr>
      </p:pic>
      <p:pic>
        <p:nvPicPr>
          <p:cNvPr id="21" name="Рисунок 20" descr="Изображение выглядит как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3550501-E8FC-E30D-B59F-FCDF8975E3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6697" y="4014968"/>
            <a:ext cx="1113471" cy="11134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76CA6F-B053-A69D-8117-50EBDE56D68B}"/>
              </a:ext>
            </a:extLst>
          </p:cNvPr>
          <p:cNvSpPr txBox="1"/>
          <p:nvPr/>
        </p:nvSpPr>
        <p:spPr>
          <a:xfrm>
            <a:off x="799171" y="54044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i="0" dirty="0">
                <a:solidFill>
                  <a:schemeClr val="tx2"/>
                </a:solidFill>
                <a:effectLst/>
                <a:latin typeface="+mn-lt"/>
              </a:rPr>
              <a:t>Матрица корреляций</a:t>
            </a:r>
            <a:endParaRPr lang="en-US" sz="28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B1DAD2-74ED-C61E-7538-4FE8D936C391}"/>
              </a:ext>
            </a:extLst>
          </p:cNvPr>
          <p:cNvSpPr txBox="1"/>
          <p:nvPr/>
        </p:nvSpPr>
        <p:spPr>
          <a:xfrm>
            <a:off x="851210" y="672685"/>
            <a:ext cx="46314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Взаимосвязь признаков с оттоком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7698D5-8437-085B-9543-D5543012A68B}"/>
              </a:ext>
            </a:extLst>
          </p:cNvPr>
          <p:cNvSpPr txBox="1"/>
          <p:nvPr/>
        </p:nvSpPr>
        <p:spPr>
          <a:xfrm>
            <a:off x="878155" y="1241535"/>
            <a:ext cx="185855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lang="ru-RU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Возраст</a:t>
            </a: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 - самый сильный драйвер оттока.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0042389-CEE1-008D-F045-566DD3A68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691" y="1257080"/>
            <a:ext cx="6017926" cy="3719257"/>
          </a:xfrm>
          <a:prstGeom prst="rect">
            <a:avLst/>
          </a:prstGeom>
        </p:spPr>
      </p:pic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47362593-F1B3-24B2-DDBE-188E89BC5B42}"/>
              </a:ext>
            </a:extLst>
          </p:cNvPr>
          <p:cNvCxnSpPr>
            <a:cxnSpLocks/>
          </p:cNvCxnSpPr>
          <p:nvPr/>
        </p:nvCxnSpPr>
        <p:spPr>
          <a:xfrm>
            <a:off x="3791415" y="2817541"/>
            <a:ext cx="364273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4C06C38B-A8DC-761B-5982-9D7407115E66}"/>
              </a:ext>
            </a:extLst>
          </p:cNvPr>
          <p:cNvCxnSpPr>
            <a:cxnSpLocks/>
          </p:cNvCxnSpPr>
          <p:nvPr/>
        </p:nvCxnSpPr>
        <p:spPr>
          <a:xfrm flipV="1">
            <a:off x="4252332" y="2869580"/>
            <a:ext cx="0" cy="112255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FD202F2E-1C04-1503-F0AC-067939F3EB6D}"/>
              </a:ext>
            </a:extLst>
          </p:cNvPr>
          <p:cNvSpPr/>
          <p:nvPr/>
        </p:nvSpPr>
        <p:spPr>
          <a:xfrm>
            <a:off x="4155687" y="2757025"/>
            <a:ext cx="217439" cy="164582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FCA689-B66B-F117-62CC-01E366509653}"/>
              </a:ext>
            </a:extLst>
          </p:cNvPr>
          <p:cNvSpPr txBox="1"/>
          <p:nvPr/>
        </p:nvSpPr>
        <p:spPr>
          <a:xfrm>
            <a:off x="799169" y="2630639"/>
            <a:ext cx="2085275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complain и exited имеют корреляцию </a:t>
            </a:r>
            <a:r>
              <a:rPr lang="ru-RU" b="1" i="0" u="sng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1.00</a:t>
            </a: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 - </a:t>
            </a:r>
            <a:r>
              <a:rPr lang="ru-RU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Полная утечка данных</a:t>
            </a:r>
          </a:p>
          <a:p>
            <a:pPr algn="l"/>
            <a:endParaRPr lang="ru-RU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+mn-lt"/>
            </a:endParaRPr>
          </a:p>
          <a:p>
            <a:pPr algn="l">
              <a:buNone/>
            </a:pPr>
            <a:r>
              <a:rPr lang="ru-RU" b="0" i="1" dirty="0">
                <a:solidFill>
                  <a:srgbClr val="FF0000"/>
                </a:solidFill>
                <a:effectLst/>
                <a:latin typeface="+mn-lt"/>
              </a:rPr>
              <a:t>Колонка complain должна быть немедленно удалена!</a:t>
            </a:r>
            <a:endParaRPr lang="ru-RU" b="0" i="0" dirty="0">
              <a:solidFill>
                <a:srgbClr val="FF0000"/>
              </a:solidFill>
              <a:effectLst/>
              <a:latin typeface="+mn-lt"/>
            </a:endParaRPr>
          </a:p>
        </p:txBody>
      </p:sp>
      <p:pic>
        <p:nvPicPr>
          <p:cNvPr id="36" name="Рисунок 35" descr="Изображение выглядит как сердце, снимок экрана, Графи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7D5E7E2-C20B-5C97-7020-DB874E84F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841807" y="4272514"/>
            <a:ext cx="626329" cy="626329"/>
          </a:xfrm>
          <a:prstGeom prst="rect">
            <a:avLst/>
          </a:prstGeom>
        </p:spPr>
      </p:pic>
      <p:pic>
        <p:nvPicPr>
          <p:cNvPr id="38" name="Рисунок 37" descr="Изображение выглядит как логотип, Графика, символ, крас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CCE4FB6-915D-B79E-DDD9-E2E178FD08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952495" y="4282746"/>
            <a:ext cx="616097" cy="61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460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A3F94E-3363-004E-8444-7962742C496D}"/>
              </a:ext>
            </a:extLst>
          </p:cNvPr>
          <p:cNvSpPr txBox="1"/>
          <p:nvPr/>
        </p:nvSpPr>
        <p:spPr>
          <a:xfrm>
            <a:off x="730574" y="130131"/>
            <a:ext cx="58469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i="0" dirty="0">
                <a:solidFill>
                  <a:schemeClr val="tx2"/>
                </a:solidFill>
                <a:effectLst/>
                <a:latin typeface="+mn-lt"/>
              </a:rPr>
              <a:t>Модель прогнозирования оттока</a:t>
            </a:r>
            <a:endParaRPr lang="en-US" sz="28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57E56F-DD1F-EE23-4AB8-D62E25564A06}"/>
              </a:ext>
            </a:extLst>
          </p:cNvPr>
          <p:cNvSpPr txBox="1"/>
          <p:nvPr/>
        </p:nvSpPr>
        <p:spPr>
          <a:xfrm>
            <a:off x="667734" y="727581"/>
            <a:ext cx="457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Прогнозная модель оттока клиентов</a:t>
            </a:r>
          </a:p>
          <a:p>
            <a:endParaRPr lang="ru-RU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  <a:p>
            <a:r>
              <a:rPr lang="ru-RU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Цель:</a:t>
            </a:r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 Прогнозирование оттока для своевременного удержания клиентов</a:t>
            </a:r>
          </a:p>
          <a:p>
            <a:r>
              <a:rPr lang="ru-RU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Данные:</a:t>
            </a:r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 13 признаков после обработки (исключены утечки данных, масштабирование)</a:t>
            </a:r>
          </a:p>
          <a:p>
            <a:r>
              <a:rPr lang="ru-RU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Признаки:</a:t>
            </a:r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 возраст, баланс, активность, кредитный рейтинг, география, пол, количество продуктов, зарплата и др.</a:t>
            </a:r>
          </a:p>
          <a:p>
            <a:endParaRPr lang="ru-RU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70DDAB7-FA50-86C5-06DD-64DCF2712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896" y="653351"/>
            <a:ext cx="3122152" cy="2360849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символ, логотип, дизайн, творческий подход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78A3337-E5EC-2C79-23A6-0D860D75D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692" y="3781783"/>
            <a:ext cx="1136580" cy="1136580"/>
          </a:xfrm>
          <a:prstGeom prst="rect">
            <a:avLst/>
          </a:prstGeom>
        </p:spPr>
      </p:pic>
      <p:pic>
        <p:nvPicPr>
          <p:cNvPr id="15" name="Рисунок 14" descr="Изображение выглядит как Графика, Красочность, графический дизайн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E71AD06-A346-A801-DC74-5843ACDF3B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421" y="2811399"/>
            <a:ext cx="970384" cy="9703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EA7420-D10A-86AB-9CEB-E91D61BAC44D}"/>
              </a:ext>
            </a:extLst>
          </p:cNvPr>
          <p:cNvSpPr txBox="1"/>
          <p:nvPr/>
        </p:nvSpPr>
        <p:spPr>
          <a:xfrm>
            <a:off x="4572000" y="3014200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Алгоритм:</a:t>
            </a:r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 Логистическая регрессия с проверкой на тестовой выборке (20%)</a:t>
            </a:r>
          </a:p>
          <a:p>
            <a:r>
              <a:rPr lang="ru-RU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Оценка:</a:t>
            </a:r>
            <a:endParaRPr lang="ru-RU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  <a:p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Общая точность: 80.3%</a:t>
            </a:r>
          </a:p>
          <a:p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Основная проблема: низкая полнота (15% для уходящих)</a:t>
            </a:r>
          </a:p>
          <a:p>
            <a:r>
              <a:rPr lang="ru-RU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Выводы:</a:t>
            </a:r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 Модель готова к внедрению, требует оптимизации порога классификации. Ключевые факторы оттока - возраст, активность и баланс.</a:t>
            </a:r>
          </a:p>
        </p:txBody>
      </p:sp>
      <p:pic>
        <p:nvPicPr>
          <p:cNvPr id="7" name="Рисунок 6" descr="Изображение выглядит как снимок экрана, Графика, Красочность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18D29DB-E450-A00E-497C-ABD2331848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4825" y="2811399"/>
            <a:ext cx="970384" cy="97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43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02DB8C-943B-392F-851A-693EB77ABF5C}"/>
              </a:ext>
            </a:extLst>
          </p:cNvPr>
          <p:cNvSpPr txBox="1"/>
          <p:nvPr/>
        </p:nvSpPr>
        <p:spPr>
          <a:xfrm>
            <a:off x="895815" y="210385"/>
            <a:ext cx="32227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i="0" dirty="0">
                <a:solidFill>
                  <a:schemeClr val="tx2"/>
                </a:solidFill>
                <a:effectLst/>
                <a:latin typeface="+mn-lt"/>
              </a:rPr>
              <a:t>Ключевые выводы</a:t>
            </a:r>
            <a:endParaRPr lang="en-US" sz="28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56DCC4-4708-BD5A-EFA5-EE458E838833}"/>
              </a:ext>
            </a:extLst>
          </p:cNvPr>
          <p:cNvSpPr txBox="1"/>
          <p:nvPr/>
        </p:nvSpPr>
        <p:spPr>
          <a:xfrm>
            <a:off x="895815" y="109140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lang="ru-RU" sz="18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Целевые сегменты риска:</a:t>
            </a:r>
            <a:r>
              <a:rPr lang="ru-RU" sz="1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 Клиенты 45+ из Германии с высоким балансом.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A0495F-1937-B91D-8C09-74456DFAF2F2}"/>
              </a:ext>
            </a:extLst>
          </p:cNvPr>
          <p:cNvSpPr txBox="1"/>
          <p:nvPr/>
        </p:nvSpPr>
        <p:spPr>
          <a:xfrm>
            <a:off x="895815" y="224858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</a:pPr>
            <a:r>
              <a:rPr lang="ru-RU" sz="18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Главный парадокс:</a:t>
            </a:r>
            <a:r>
              <a:rPr lang="ru-RU" sz="1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 Многопродуктовые клиенты - наименее лояльны.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49A6EF-FCE9-B8F6-53C9-A42548C4A367}"/>
              </a:ext>
            </a:extLst>
          </p:cNvPr>
          <p:cNvSpPr txBox="1"/>
          <p:nvPr/>
        </p:nvSpPr>
        <p:spPr>
          <a:xfrm>
            <a:off x="895815" y="3405765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</a:pPr>
            <a:r>
              <a:rPr lang="ru-RU" sz="18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Ключевой рычаг:</a:t>
            </a:r>
            <a:r>
              <a:rPr lang="ru-RU" sz="1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rPr>
              <a:t> Активность клиента - лучший защитный фактор.</a:t>
            </a:r>
          </a:p>
        </p:txBody>
      </p:sp>
      <p:pic>
        <p:nvPicPr>
          <p:cNvPr id="11" name="Рисунок 10" descr="Изображение выглядит как Прямоугольник, текс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3AE564A-1924-46EF-B10C-B2475DF60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8775" y="548541"/>
            <a:ext cx="1085726" cy="1085726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символ, Графика, Шрифт, логотип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2B45FCE-ED9C-4907-191F-E7AC5966C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466" y="785881"/>
            <a:ext cx="848386" cy="848386"/>
          </a:xfrm>
          <a:prstGeom prst="rect">
            <a:avLst/>
          </a:prstGeom>
        </p:spPr>
      </p:pic>
      <p:pic>
        <p:nvPicPr>
          <p:cNvPr id="15" name="Рисунок 14" descr="Изображение выглядит как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A023D78-9F1A-127C-7D65-4F680E8F8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2441" y="2169965"/>
            <a:ext cx="958395" cy="958395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A4128CB-E651-3126-2F14-0A233D3B7D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462" y="2169965"/>
            <a:ext cx="958395" cy="958395"/>
          </a:xfrm>
          <a:prstGeom prst="rect">
            <a:avLst/>
          </a:prstGeom>
        </p:spPr>
      </p:pic>
      <p:pic>
        <p:nvPicPr>
          <p:cNvPr id="17" name="Рисунок 16" descr="Изображение выглядит как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26FB4A4-C9CF-74B9-BAA0-F6257821A3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8987" y="2176933"/>
            <a:ext cx="958395" cy="958395"/>
          </a:xfrm>
          <a:prstGeom prst="rect">
            <a:avLst/>
          </a:prstGeom>
        </p:spPr>
      </p:pic>
      <p:pic>
        <p:nvPicPr>
          <p:cNvPr id="19" name="Рисунок 18" descr="Изображение выглядит как символ, линия, Красочность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8F5664C-0F2F-86D7-E67F-4AFE4F48D4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7768987" y="2130754"/>
            <a:ext cx="1036815" cy="1036815"/>
          </a:xfrm>
          <a:prstGeom prst="rect">
            <a:avLst/>
          </a:prstGeom>
        </p:spPr>
      </p:pic>
      <p:pic>
        <p:nvPicPr>
          <p:cNvPr id="21" name="Рисунок 20" descr="Изображение выглядит как графическая вставка, мультфильм,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46B4966-CC41-FFC1-84D3-1D32FCFBF9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2441" y="3298195"/>
            <a:ext cx="958395" cy="95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566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1BA586-0208-3DBF-A121-58B06B018803}"/>
              </a:ext>
            </a:extLst>
          </p:cNvPr>
          <p:cNvSpPr txBox="1"/>
          <p:nvPr/>
        </p:nvSpPr>
        <p:spPr>
          <a:xfrm>
            <a:off x="938758" y="286788"/>
            <a:ext cx="7633742" cy="1119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i="0" kern="1200" cap="all" spc="200" dirty="0">
                <a:solidFill>
                  <a:schemeClr val="tx2"/>
                </a:solidFill>
                <a:effectLst/>
                <a:latin typeface="Corbel" panose="020B0503020204020204" pitchFamily="34" charset="0"/>
                <a:ea typeface="+mj-ea"/>
                <a:cs typeface="+mj-cs"/>
              </a:rPr>
              <a:t>Рекомендации и </a:t>
            </a:r>
            <a:r>
              <a:rPr lang="en-US" sz="2800" b="1" kern="1200" cap="all" spc="200" dirty="0">
                <a:solidFill>
                  <a:schemeClr val="tx2"/>
                </a:solidFill>
                <a:latin typeface="Corbel" panose="020B0503020204020204" pitchFamily="34" charset="0"/>
                <a:ea typeface="+mj-ea"/>
                <a:cs typeface="+mj-cs"/>
              </a:rPr>
              <a:t>п</a:t>
            </a:r>
            <a:r>
              <a:rPr lang="en-US" sz="2800" b="1" i="0" kern="1200" cap="all" spc="200" dirty="0">
                <a:solidFill>
                  <a:schemeClr val="tx2"/>
                </a:solidFill>
                <a:effectLst/>
                <a:latin typeface="Corbel" panose="020B0503020204020204" pitchFamily="34" charset="0"/>
                <a:ea typeface="+mj-ea"/>
                <a:cs typeface="+mj-cs"/>
              </a:rPr>
              <a:t>риоритетные </a:t>
            </a:r>
            <a:r>
              <a:rPr lang="en-US" sz="2800" b="1" i="0" kern="1200" cap="all" dirty="0">
                <a:solidFill>
                  <a:schemeClr val="tx2"/>
                </a:solidFill>
                <a:effectLst/>
                <a:latin typeface="Corbel" panose="020B0503020204020204" pitchFamily="34" charset="0"/>
                <a:ea typeface="+mj-ea"/>
                <a:cs typeface="+mj-cs"/>
              </a:rPr>
              <a:t>действия</a:t>
            </a:r>
            <a:endParaRPr lang="en-US" sz="2800" b="1" kern="1200" cap="all" dirty="0">
              <a:solidFill>
                <a:schemeClr val="tx2"/>
              </a:solidFill>
              <a:latin typeface="Corbel" panose="020B0503020204020204" pitchFamily="34" charset="0"/>
              <a:ea typeface="+mj-ea"/>
              <a:cs typeface="+mj-cs"/>
            </a:endParaRPr>
          </a:p>
        </p:txBody>
      </p:sp>
      <p:graphicFrame>
        <p:nvGraphicFramePr>
          <p:cNvPr id="17" name="TextBox 14">
            <a:extLst>
              <a:ext uri="{FF2B5EF4-FFF2-40B4-BE49-F238E27FC236}">
                <a16:creationId xmlns:a16="http://schemas.microsoft.com/office/drawing/2014/main" id="{88537D33-E2D2-87B5-9DE2-1515558050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6699906"/>
              </p:ext>
            </p:extLst>
          </p:nvPr>
        </p:nvGraphicFramePr>
        <p:xfrm>
          <a:off x="938212" y="1714500"/>
          <a:ext cx="7634288" cy="2695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8189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BB8C1D0E-0B06-46C9-A8BD-A8E13FF99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667762" y="473202"/>
            <a:ext cx="3926681" cy="3921918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1ADC4A-8537-4084-99C7-F8D378A64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2598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5DEDD7-7B31-4EF1-B7C7-5AEE3208C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3997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C3074E-E61B-496B-3409-E563E677BBF6}"/>
              </a:ext>
            </a:extLst>
          </p:cNvPr>
          <p:cNvSpPr txBox="1"/>
          <p:nvPr/>
        </p:nvSpPr>
        <p:spPr>
          <a:xfrm>
            <a:off x="483636" y="1734502"/>
            <a:ext cx="3807926" cy="15143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cap="all" dirty="0">
                <a:solidFill>
                  <a:schemeClr val="accent1">
                    <a:lumMod val="50000"/>
                  </a:schemeClr>
                </a:solidFill>
                <a:latin typeface="Corbel" panose="020B0503020204020204" pitchFamily="34" charset="0"/>
                <a:ea typeface="+mj-ea"/>
                <a:cs typeface="+mj-cs"/>
              </a:rPr>
              <a:t>СПАСИБО ЗА ВНИМАНИЕ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242CC7A-3D6E-47A4-B9D1-860978459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74630" y="0"/>
            <a:ext cx="3961889" cy="5143500"/>
          </a:xfrm>
          <a:custGeom>
            <a:avLst/>
            <a:gdLst>
              <a:gd name="connsiteX0" fmla="*/ 189795 w 5282519"/>
              <a:gd name="connsiteY0" fmla="*/ 0 h 6858000"/>
              <a:gd name="connsiteX1" fmla="*/ 5282519 w 5282519"/>
              <a:gd name="connsiteY1" fmla="*/ 0 h 6858000"/>
              <a:gd name="connsiteX2" fmla="*/ 5282519 w 5282519"/>
              <a:gd name="connsiteY2" fmla="*/ 6858000 h 6858000"/>
              <a:gd name="connsiteX3" fmla="*/ 189795 w 5282519"/>
              <a:gd name="connsiteY3" fmla="*/ 6858000 h 6858000"/>
              <a:gd name="connsiteX4" fmla="*/ 184756 w 5282519"/>
              <a:gd name="connsiteY4" fmla="*/ 6791325 h 6858000"/>
              <a:gd name="connsiteX5" fmla="*/ 176358 w 5282519"/>
              <a:gd name="connsiteY5" fmla="*/ 6735762 h 6858000"/>
              <a:gd name="connsiteX6" fmla="*/ 166281 w 5282519"/>
              <a:gd name="connsiteY6" fmla="*/ 6683375 h 6858000"/>
              <a:gd name="connsiteX7" fmla="*/ 149485 w 5282519"/>
              <a:gd name="connsiteY7" fmla="*/ 6640512 h 6858000"/>
              <a:gd name="connsiteX8" fmla="*/ 132689 w 5282519"/>
              <a:gd name="connsiteY8" fmla="*/ 6597650 h 6858000"/>
              <a:gd name="connsiteX9" fmla="*/ 112534 w 5282519"/>
              <a:gd name="connsiteY9" fmla="*/ 6561137 h 6858000"/>
              <a:gd name="connsiteX10" fmla="*/ 92379 w 5282519"/>
              <a:gd name="connsiteY10" fmla="*/ 6523037 h 6858000"/>
              <a:gd name="connsiteX11" fmla="*/ 73903 w 5282519"/>
              <a:gd name="connsiteY11" fmla="*/ 6488112 h 6858000"/>
              <a:gd name="connsiteX12" fmla="*/ 55427 w 5282519"/>
              <a:gd name="connsiteY12" fmla="*/ 6448425 h 6858000"/>
              <a:gd name="connsiteX13" fmla="*/ 38632 w 5282519"/>
              <a:gd name="connsiteY13" fmla="*/ 6407150 h 6858000"/>
              <a:gd name="connsiteX14" fmla="*/ 23515 w 5282519"/>
              <a:gd name="connsiteY14" fmla="*/ 6361112 h 6858000"/>
              <a:gd name="connsiteX15" fmla="*/ 11758 w 5282519"/>
              <a:gd name="connsiteY15" fmla="*/ 6311900 h 6858000"/>
              <a:gd name="connsiteX16" fmla="*/ 3359 w 5282519"/>
              <a:gd name="connsiteY16" fmla="*/ 6251575 h 6858000"/>
              <a:gd name="connsiteX17" fmla="*/ 0 w 5282519"/>
              <a:gd name="connsiteY17" fmla="*/ 6183312 h 6858000"/>
              <a:gd name="connsiteX18" fmla="*/ 3359 w 5282519"/>
              <a:gd name="connsiteY18" fmla="*/ 6113462 h 6858000"/>
              <a:gd name="connsiteX19" fmla="*/ 11758 w 5282519"/>
              <a:gd name="connsiteY19" fmla="*/ 6056312 h 6858000"/>
              <a:gd name="connsiteX20" fmla="*/ 23515 w 5282519"/>
              <a:gd name="connsiteY20" fmla="*/ 6003925 h 6858000"/>
              <a:gd name="connsiteX21" fmla="*/ 38632 w 5282519"/>
              <a:gd name="connsiteY21" fmla="*/ 5956300 h 6858000"/>
              <a:gd name="connsiteX22" fmla="*/ 55427 w 5282519"/>
              <a:gd name="connsiteY22" fmla="*/ 5915025 h 6858000"/>
              <a:gd name="connsiteX23" fmla="*/ 75583 w 5282519"/>
              <a:gd name="connsiteY23" fmla="*/ 5876925 h 6858000"/>
              <a:gd name="connsiteX24" fmla="*/ 95738 w 5282519"/>
              <a:gd name="connsiteY24" fmla="*/ 5840412 h 6858000"/>
              <a:gd name="connsiteX25" fmla="*/ 115893 w 5282519"/>
              <a:gd name="connsiteY25" fmla="*/ 5802312 h 6858000"/>
              <a:gd name="connsiteX26" fmla="*/ 134368 w 5282519"/>
              <a:gd name="connsiteY26" fmla="*/ 5762625 h 6858000"/>
              <a:gd name="connsiteX27" fmla="*/ 152844 w 5282519"/>
              <a:gd name="connsiteY27" fmla="*/ 5721350 h 6858000"/>
              <a:gd name="connsiteX28" fmla="*/ 167960 w 5282519"/>
              <a:gd name="connsiteY28" fmla="*/ 5675312 h 6858000"/>
              <a:gd name="connsiteX29" fmla="*/ 178038 w 5282519"/>
              <a:gd name="connsiteY29" fmla="*/ 5622925 h 6858000"/>
              <a:gd name="connsiteX30" fmla="*/ 188115 w 5282519"/>
              <a:gd name="connsiteY30" fmla="*/ 5562600 h 6858000"/>
              <a:gd name="connsiteX31" fmla="*/ 189795 w 5282519"/>
              <a:gd name="connsiteY31" fmla="*/ 5494337 h 6858000"/>
              <a:gd name="connsiteX32" fmla="*/ 188115 w 5282519"/>
              <a:gd name="connsiteY32" fmla="*/ 5426075 h 6858000"/>
              <a:gd name="connsiteX33" fmla="*/ 178038 w 5282519"/>
              <a:gd name="connsiteY33" fmla="*/ 5365750 h 6858000"/>
              <a:gd name="connsiteX34" fmla="*/ 167960 w 5282519"/>
              <a:gd name="connsiteY34" fmla="*/ 5313362 h 6858000"/>
              <a:gd name="connsiteX35" fmla="*/ 152844 w 5282519"/>
              <a:gd name="connsiteY35" fmla="*/ 5268912 h 6858000"/>
              <a:gd name="connsiteX36" fmla="*/ 134368 w 5282519"/>
              <a:gd name="connsiteY36" fmla="*/ 5226050 h 6858000"/>
              <a:gd name="connsiteX37" fmla="*/ 115893 w 5282519"/>
              <a:gd name="connsiteY37" fmla="*/ 5186362 h 6858000"/>
              <a:gd name="connsiteX38" fmla="*/ 95738 w 5282519"/>
              <a:gd name="connsiteY38" fmla="*/ 5149850 h 6858000"/>
              <a:gd name="connsiteX39" fmla="*/ 75583 w 5282519"/>
              <a:gd name="connsiteY39" fmla="*/ 5114925 h 6858000"/>
              <a:gd name="connsiteX40" fmla="*/ 55427 w 5282519"/>
              <a:gd name="connsiteY40" fmla="*/ 5075237 h 6858000"/>
              <a:gd name="connsiteX41" fmla="*/ 38632 w 5282519"/>
              <a:gd name="connsiteY41" fmla="*/ 5033962 h 6858000"/>
              <a:gd name="connsiteX42" fmla="*/ 23515 w 5282519"/>
              <a:gd name="connsiteY42" fmla="*/ 4987925 h 6858000"/>
              <a:gd name="connsiteX43" fmla="*/ 11758 w 5282519"/>
              <a:gd name="connsiteY43" fmla="*/ 4935537 h 6858000"/>
              <a:gd name="connsiteX44" fmla="*/ 3359 w 5282519"/>
              <a:gd name="connsiteY44" fmla="*/ 4875212 h 6858000"/>
              <a:gd name="connsiteX45" fmla="*/ 0 w 5282519"/>
              <a:gd name="connsiteY45" fmla="*/ 4806950 h 6858000"/>
              <a:gd name="connsiteX46" fmla="*/ 3359 w 5282519"/>
              <a:gd name="connsiteY46" fmla="*/ 4738687 h 6858000"/>
              <a:gd name="connsiteX47" fmla="*/ 11758 w 5282519"/>
              <a:gd name="connsiteY47" fmla="*/ 4678362 h 6858000"/>
              <a:gd name="connsiteX48" fmla="*/ 23515 w 5282519"/>
              <a:gd name="connsiteY48" fmla="*/ 4625975 h 6858000"/>
              <a:gd name="connsiteX49" fmla="*/ 38632 w 5282519"/>
              <a:gd name="connsiteY49" fmla="*/ 4579937 h 6858000"/>
              <a:gd name="connsiteX50" fmla="*/ 55427 w 5282519"/>
              <a:gd name="connsiteY50" fmla="*/ 4537075 h 6858000"/>
              <a:gd name="connsiteX51" fmla="*/ 75583 w 5282519"/>
              <a:gd name="connsiteY51" fmla="*/ 4498975 h 6858000"/>
              <a:gd name="connsiteX52" fmla="*/ 115893 w 5282519"/>
              <a:gd name="connsiteY52" fmla="*/ 4424362 h 6858000"/>
              <a:gd name="connsiteX53" fmla="*/ 134368 w 5282519"/>
              <a:gd name="connsiteY53" fmla="*/ 4386262 h 6858000"/>
              <a:gd name="connsiteX54" fmla="*/ 152844 w 5282519"/>
              <a:gd name="connsiteY54" fmla="*/ 4343400 h 6858000"/>
              <a:gd name="connsiteX55" fmla="*/ 167960 w 5282519"/>
              <a:gd name="connsiteY55" fmla="*/ 4297362 h 6858000"/>
              <a:gd name="connsiteX56" fmla="*/ 178038 w 5282519"/>
              <a:gd name="connsiteY56" fmla="*/ 4244975 h 6858000"/>
              <a:gd name="connsiteX57" fmla="*/ 188115 w 5282519"/>
              <a:gd name="connsiteY57" fmla="*/ 4186237 h 6858000"/>
              <a:gd name="connsiteX58" fmla="*/ 189795 w 5282519"/>
              <a:gd name="connsiteY58" fmla="*/ 4116387 h 6858000"/>
              <a:gd name="connsiteX59" fmla="*/ 188115 w 5282519"/>
              <a:gd name="connsiteY59" fmla="*/ 4048125 h 6858000"/>
              <a:gd name="connsiteX60" fmla="*/ 178038 w 5282519"/>
              <a:gd name="connsiteY60" fmla="*/ 3987800 h 6858000"/>
              <a:gd name="connsiteX61" fmla="*/ 167960 w 5282519"/>
              <a:gd name="connsiteY61" fmla="*/ 3935412 h 6858000"/>
              <a:gd name="connsiteX62" fmla="*/ 152844 w 5282519"/>
              <a:gd name="connsiteY62" fmla="*/ 3890962 h 6858000"/>
              <a:gd name="connsiteX63" fmla="*/ 134368 w 5282519"/>
              <a:gd name="connsiteY63" fmla="*/ 3848100 h 6858000"/>
              <a:gd name="connsiteX64" fmla="*/ 115893 w 5282519"/>
              <a:gd name="connsiteY64" fmla="*/ 3811587 h 6858000"/>
              <a:gd name="connsiteX65" fmla="*/ 75583 w 5282519"/>
              <a:gd name="connsiteY65" fmla="*/ 3736975 h 6858000"/>
              <a:gd name="connsiteX66" fmla="*/ 55427 w 5282519"/>
              <a:gd name="connsiteY66" fmla="*/ 3697287 h 6858000"/>
              <a:gd name="connsiteX67" fmla="*/ 38632 w 5282519"/>
              <a:gd name="connsiteY67" fmla="*/ 3656012 h 6858000"/>
              <a:gd name="connsiteX68" fmla="*/ 23515 w 5282519"/>
              <a:gd name="connsiteY68" fmla="*/ 3609975 h 6858000"/>
              <a:gd name="connsiteX69" fmla="*/ 11758 w 5282519"/>
              <a:gd name="connsiteY69" fmla="*/ 3557587 h 6858000"/>
              <a:gd name="connsiteX70" fmla="*/ 3359 w 5282519"/>
              <a:gd name="connsiteY70" fmla="*/ 3497262 h 6858000"/>
              <a:gd name="connsiteX71" fmla="*/ 0 w 5282519"/>
              <a:gd name="connsiteY71" fmla="*/ 3427412 h 6858000"/>
              <a:gd name="connsiteX72" fmla="*/ 3359 w 5282519"/>
              <a:gd name="connsiteY72" fmla="*/ 3360737 h 6858000"/>
              <a:gd name="connsiteX73" fmla="*/ 11758 w 5282519"/>
              <a:gd name="connsiteY73" fmla="*/ 3300412 h 6858000"/>
              <a:gd name="connsiteX74" fmla="*/ 23515 w 5282519"/>
              <a:gd name="connsiteY74" fmla="*/ 3248025 h 6858000"/>
              <a:gd name="connsiteX75" fmla="*/ 38632 w 5282519"/>
              <a:gd name="connsiteY75" fmla="*/ 3201987 h 6858000"/>
              <a:gd name="connsiteX76" fmla="*/ 55427 w 5282519"/>
              <a:gd name="connsiteY76" fmla="*/ 3160712 h 6858000"/>
              <a:gd name="connsiteX77" fmla="*/ 75583 w 5282519"/>
              <a:gd name="connsiteY77" fmla="*/ 3121025 h 6858000"/>
              <a:gd name="connsiteX78" fmla="*/ 95738 w 5282519"/>
              <a:gd name="connsiteY78" fmla="*/ 3084512 h 6858000"/>
              <a:gd name="connsiteX79" fmla="*/ 115893 w 5282519"/>
              <a:gd name="connsiteY79" fmla="*/ 3046412 h 6858000"/>
              <a:gd name="connsiteX80" fmla="*/ 134368 w 5282519"/>
              <a:gd name="connsiteY80" fmla="*/ 3009900 h 6858000"/>
              <a:gd name="connsiteX81" fmla="*/ 152844 w 5282519"/>
              <a:gd name="connsiteY81" fmla="*/ 2967037 h 6858000"/>
              <a:gd name="connsiteX82" fmla="*/ 167960 w 5282519"/>
              <a:gd name="connsiteY82" fmla="*/ 2922587 h 6858000"/>
              <a:gd name="connsiteX83" fmla="*/ 178038 w 5282519"/>
              <a:gd name="connsiteY83" fmla="*/ 2868612 h 6858000"/>
              <a:gd name="connsiteX84" fmla="*/ 188115 w 5282519"/>
              <a:gd name="connsiteY84" fmla="*/ 2809875 h 6858000"/>
              <a:gd name="connsiteX85" fmla="*/ 189795 w 5282519"/>
              <a:gd name="connsiteY85" fmla="*/ 2741612 h 6858000"/>
              <a:gd name="connsiteX86" fmla="*/ 188115 w 5282519"/>
              <a:gd name="connsiteY86" fmla="*/ 2671762 h 6858000"/>
              <a:gd name="connsiteX87" fmla="*/ 178038 w 5282519"/>
              <a:gd name="connsiteY87" fmla="*/ 2613025 h 6858000"/>
              <a:gd name="connsiteX88" fmla="*/ 167960 w 5282519"/>
              <a:gd name="connsiteY88" fmla="*/ 2560637 h 6858000"/>
              <a:gd name="connsiteX89" fmla="*/ 152844 w 5282519"/>
              <a:gd name="connsiteY89" fmla="*/ 2513012 h 6858000"/>
              <a:gd name="connsiteX90" fmla="*/ 134368 w 5282519"/>
              <a:gd name="connsiteY90" fmla="*/ 2471737 h 6858000"/>
              <a:gd name="connsiteX91" fmla="*/ 115893 w 5282519"/>
              <a:gd name="connsiteY91" fmla="*/ 2433637 h 6858000"/>
              <a:gd name="connsiteX92" fmla="*/ 95738 w 5282519"/>
              <a:gd name="connsiteY92" fmla="*/ 2395537 h 6858000"/>
              <a:gd name="connsiteX93" fmla="*/ 75583 w 5282519"/>
              <a:gd name="connsiteY93" fmla="*/ 2359025 h 6858000"/>
              <a:gd name="connsiteX94" fmla="*/ 55427 w 5282519"/>
              <a:gd name="connsiteY94" fmla="*/ 2319337 h 6858000"/>
              <a:gd name="connsiteX95" fmla="*/ 38632 w 5282519"/>
              <a:gd name="connsiteY95" fmla="*/ 2278062 h 6858000"/>
              <a:gd name="connsiteX96" fmla="*/ 23515 w 5282519"/>
              <a:gd name="connsiteY96" fmla="*/ 2232025 h 6858000"/>
              <a:gd name="connsiteX97" fmla="*/ 11758 w 5282519"/>
              <a:gd name="connsiteY97" fmla="*/ 2179637 h 6858000"/>
              <a:gd name="connsiteX98" fmla="*/ 3359 w 5282519"/>
              <a:gd name="connsiteY98" fmla="*/ 2119312 h 6858000"/>
              <a:gd name="connsiteX99" fmla="*/ 0 w 5282519"/>
              <a:gd name="connsiteY99" fmla="*/ 2051050 h 6858000"/>
              <a:gd name="connsiteX100" fmla="*/ 3359 w 5282519"/>
              <a:gd name="connsiteY100" fmla="*/ 1982787 h 6858000"/>
              <a:gd name="connsiteX101" fmla="*/ 11758 w 5282519"/>
              <a:gd name="connsiteY101" fmla="*/ 1922462 h 6858000"/>
              <a:gd name="connsiteX102" fmla="*/ 23515 w 5282519"/>
              <a:gd name="connsiteY102" fmla="*/ 1870075 h 6858000"/>
              <a:gd name="connsiteX103" fmla="*/ 38632 w 5282519"/>
              <a:gd name="connsiteY103" fmla="*/ 1824037 h 6858000"/>
              <a:gd name="connsiteX104" fmla="*/ 55427 w 5282519"/>
              <a:gd name="connsiteY104" fmla="*/ 1782762 h 6858000"/>
              <a:gd name="connsiteX105" fmla="*/ 75583 w 5282519"/>
              <a:gd name="connsiteY105" fmla="*/ 1743075 h 6858000"/>
              <a:gd name="connsiteX106" fmla="*/ 95738 w 5282519"/>
              <a:gd name="connsiteY106" fmla="*/ 1708150 h 6858000"/>
              <a:gd name="connsiteX107" fmla="*/ 115893 w 5282519"/>
              <a:gd name="connsiteY107" fmla="*/ 1671637 h 6858000"/>
              <a:gd name="connsiteX108" fmla="*/ 134368 w 5282519"/>
              <a:gd name="connsiteY108" fmla="*/ 1631950 h 6858000"/>
              <a:gd name="connsiteX109" fmla="*/ 152844 w 5282519"/>
              <a:gd name="connsiteY109" fmla="*/ 1589087 h 6858000"/>
              <a:gd name="connsiteX110" fmla="*/ 167960 w 5282519"/>
              <a:gd name="connsiteY110" fmla="*/ 1544637 h 6858000"/>
              <a:gd name="connsiteX111" fmla="*/ 178038 w 5282519"/>
              <a:gd name="connsiteY111" fmla="*/ 1492250 h 6858000"/>
              <a:gd name="connsiteX112" fmla="*/ 188115 w 5282519"/>
              <a:gd name="connsiteY112" fmla="*/ 1431925 h 6858000"/>
              <a:gd name="connsiteX113" fmla="*/ 189795 w 5282519"/>
              <a:gd name="connsiteY113" fmla="*/ 1363662 h 6858000"/>
              <a:gd name="connsiteX114" fmla="*/ 188115 w 5282519"/>
              <a:gd name="connsiteY114" fmla="*/ 1295400 h 6858000"/>
              <a:gd name="connsiteX115" fmla="*/ 178038 w 5282519"/>
              <a:gd name="connsiteY115" fmla="*/ 1235075 h 6858000"/>
              <a:gd name="connsiteX116" fmla="*/ 167960 w 5282519"/>
              <a:gd name="connsiteY116" fmla="*/ 1182687 h 6858000"/>
              <a:gd name="connsiteX117" fmla="*/ 152844 w 5282519"/>
              <a:gd name="connsiteY117" fmla="*/ 1136650 h 6858000"/>
              <a:gd name="connsiteX118" fmla="*/ 134368 w 5282519"/>
              <a:gd name="connsiteY118" fmla="*/ 1095375 h 6858000"/>
              <a:gd name="connsiteX119" fmla="*/ 115893 w 5282519"/>
              <a:gd name="connsiteY119" fmla="*/ 1055687 h 6858000"/>
              <a:gd name="connsiteX120" fmla="*/ 95738 w 5282519"/>
              <a:gd name="connsiteY120" fmla="*/ 1017587 h 6858000"/>
              <a:gd name="connsiteX121" fmla="*/ 75583 w 5282519"/>
              <a:gd name="connsiteY121" fmla="*/ 981075 h 6858000"/>
              <a:gd name="connsiteX122" fmla="*/ 55427 w 5282519"/>
              <a:gd name="connsiteY122" fmla="*/ 942975 h 6858000"/>
              <a:gd name="connsiteX123" fmla="*/ 38632 w 5282519"/>
              <a:gd name="connsiteY123" fmla="*/ 901700 h 6858000"/>
              <a:gd name="connsiteX124" fmla="*/ 23515 w 5282519"/>
              <a:gd name="connsiteY124" fmla="*/ 854075 h 6858000"/>
              <a:gd name="connsiteX125" fmla="*/ 11758 w 5282519"/>
              <a:gd name="connsiteY125" fmla="*/ 801687 h 6858000"/>
              <a:gd name="connsiteX126" fmla="*/ 3359 w 5282519"/>
              <a:gd name="connsiteY126" fmla="*/ 744537 h 6858000"/>
              <a:gd name="connsiteX127" fmla="*/ 0 w 5282519"/>
              <a:gd name="connsiteY127" fmla="*/ 673100 h 6858000"/>
              <a:gd name="connsiteX128" fmla="*/ 3359 w 5282519"/>
              <a:gd name="connsiteY128" fmla="*/ 606425 h 6858000"/>
              <a:gd name="connsiteX129" fmla="*/ 11758 w 5282519"/>
              <a:gd name="connsiteY129" fmla="*/ 546100 h 6858000"/>
              <a:gd name="connsiteX130" fmla="*/ 23515 w 5282519"/>
              <a:gd name="connsiteY130" fmla="*/ 496887 h 6858000"/>
              <a:gd name="connsiteX131" fmla="*/ 38632 w 5282519"/>
              <a:gd name="connsiteY131" fmla="*/ 450850 h 6858000"/>
              <a:gd name="connsiteX132" fmla="*/ 55427 w 5282519"/>
              <a:gd name="connsiteY132" fmla="*/ 409575 h 6858000"/>
              <a:gd name="connsiteX133" fmla="*/ 73903 w 5282519"/>
              <a:gd name="connsiteY133" fmla="*/ 369887 h 6858000"/>
              <a:gd name="connsiteX134" fmla="*/ 92379 w 5282519"/>
              <a:gd name="connsiteY134" fmla="*/ 334962 h 6858000"/>
              <a:gd name="connsiteX135" fmla="*/ 112534 w 5282519"/>
              <a:gd name="connsiteY135" fmla="*/ 296862 h 6858000"/>
              <a:gd name="connsiteX136" fmla="*/ 132689 w 5282519"/>
              <a:gd name="connsiteY136" fmla="*/ 260350 h 6858000"/>
              <a:gd name="connsiteX137" fmla="*/ 149485 w 5282519"/>
              <a:gd name="connsiteY137" fmla="*/ 217487 h 6858000"/>
              <a:gd name="connsiteX138" fmla="*/ 166281 w 5282519"/>
              <a:gd name="connsiteY138" fmla="*/ 174625 h 6858000"/>
              <a:gd name="connsiteX139" fmla="*/ 176358 w 5282519"/>
              <a:gd name="connsiteY139" fmla="*/ 122237 h 6858000"/>
              <a:gd name="connsiteX140" fmla="*/ 184756 w 5282519"/>
              <a:gd name="connsiteY140" fmla="*/ 666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5282519" h="6858000">
                <a:moveTo>
                  <a:pt x="189795" y="0"/>
                </a:moveTo>
                <a:lnTo>
                  <a:pt x="5282519" y="0"/>
                </a:lnTo>
                <a:lnTo>
                  <a:pt x="5282519" y="6858000"/>
                </a:lnTo>
                <a:lnTo>
                  <a:pt x="189795" y="6858000"/>
                </a:lnTo>
                <a:lnTo>
                  <a:pt x="184756" y="6791325"/>
                </a:lnTo>
                <a:lnTo>
                  <a:pt x="176358" y="6735762"/>
                </a:lnTo>
                <a:lnTo>
                  <a:pt x="166281" y="6683375"/>
                </a:lnTo>
                <a:lnTo>
                  <a:pt x="149485" y="6640512"/>
                </a:lnTo>
                <a:lnTo>
                  <a:pt x="132689" y="6597650"/>
                </a:lnTo>
                <a:lnTo>
                  <a:pt x="112534" y="6561137"/>
                </a:lnTo>
                <a:lnTo>
                  <a:pt x="92379" y="6523037"/>
                </a:lnTo>
                <a:lnTo>
                  <a:pt x="73903" y="6488112"/>
                </a:lnTo>
                <a:lnTo>
                  <a:pt x="55427" y="6448425"/>
                </a:lnTo>
                <a:lnTo>
                  <a:pt x="38632" y="6407150"/>
                </a:lnTo>
                <a:lnTo>
                  <a:pt x="23515" y="6361112"/>
                </a:lnTo>
                <a:lnTo>
                  <a:pt x="11758" y="6311900"/>
                </a:lnTo>
                <a:lnTo>
                  <a:pt x="3359" y="6251575"/>
                </a:lnTo>
                <a:lnTo>
                  <a:pt x="0" y="6183312"/>
                </a:lnTo>
                <a:lnTo>
                  <a:pt x="3359" y="6113462"/>
                </a:lnTo>
                <a:lnTo>
                  <a:pt x="11758" y="6056312"/>
                </a:lnTo>
                <a:lnTo>
                  <a:pt x="23515" y="6003925"/>
                </a:lnTo>
                <a:lnTo>
                  <a:pt x="38632" y="5956300"/>
                </a:lnTo>
                <a:lnTo>
                  <a:pt x="55427" y="5915025"/>
                </a:lnTo>
                <a:lnTo>
                  <a:pt x="75583" y="5876925"/>
                </a:lnTo>
                <a:lnTo>
                  <a:pt x="95738" y="5840412"/>
                </a:lnTo>
                <a:lnTo>
                  <a:pt x="115893" y="5802312"/>
                </a:lnTo>
                <a:lnTo>
                  <a:pt x="134368" y="5762625"/>
                </a:lnTo>
                <a:lnTo>
                  <a:pt x="152844" y="5721350"/>
                </a:lnTo>
                <a:lnTo>
                  <a:pt x="167960" y="5675312"/>
                </a:lnTo>
                <a:lnTo>
                  <a:pt x="178038" y="5622925"/>
                </a:lnTo>
                <a:lnTo>
                  <a:pt x="188115" y="5562600"/>
                </a:lnTo>
                <a:lnTo>
                  <a:pt x="189795" y="5494337"/>
                </a:lnTo>
                <a:lnTo>
                  <a:pt x="188115" y="5426075"/>
                </a:lnTo>
                <a:lnTo>
                  <a:pt x="178038" y="5365750"/>
                </a:lnTo>
                <a:lnTo>
                  <a:pt x="167960" y="5313362"/>
                </a:lnTo>
                <a:lnTo>
                  <a:pt x="152844" y="5268912"/>
                </a:lnTo>
                <a:lnTo>
                  <a:pt x="134368" y="5226050"/>
                </a:lnTo>
                <a:lnTo>
                  <a:pt x="115893" y="5186362"/>
                </a:lnTo>
                <a:lnTo>
                  <a:pt x="95738" y="5149850"/>
                </a:lnTo>
                <a:lnTo>
                  <a:pt x="75583" y="5114925"/>
                </a:lnTo>
                <a:lnTo>
                  <a:pt x="55427" y="5075237"/>
                </a:lnTo>
                <a:lnTo>
                  <a:pt x="38632" y="5033962"/>
                </a:lnTo>
                <a:lnTo>
                  <a:pt x="23515" y="4987925"/>
                </a:lnTo>
                <a:lnTo>
                  <a:pt x="11758" y="4935537"/>
                </a:lnTo>
                <a:lnTo>
                  <a:pt x="3359" y="4875212"/>
                </a:lnTo>
                <a:lnTo>
                  <a:pt x="0" y="4806950"/>
                </a:lnTo>
                <a:lnTo>
                  <a:pt x="3359" y="4738687"/>
                </a:lnTo>
                <a:lnTo>
                  <a:pt x="11758" y="4678362"/>
                </a:lnTo>
                <a:lnTo>
                  <a:pt x="23515" y="4625975"/>
                </a:lnTo>
                <a:lnTo>
                  <a:pt x="38632" y="4579937"/>
                </a:lnTo>
                <a:lnTo>
                  <a:pt x="55427" y="4537075"/>
                </a:lnTo>
                <a:lnTo>
                  <a:pt x="75583" y="4498975"/>
                </a:lnTo>
                <a:lnTo>
                  <a:pt x="115893" y="4424362"/>
                </a:lnTo>
                <a:lnTo>
                  <a:pt x="134368" y="4386262"/>
                </a:lnTo>
                <a:lnTo>
                  <a:pt x="152844" y="4343400"/>
                </a:lnTo>
                <a:lnTo>
                  <a:pt x="167960" y="4297362"/>
                </a:lnTo>
                <a:lnTo>
                  <a:pt x="178038" y="4244975"/>
                </a:lnTo>
                <a:lnTo>
                  <a:pt x="188115" y="4186237"/>
                </a:lnTo>
                <a:lnTo>
                  <a:pt x="189795" y="4116387"/>
                </a:lnTo>
                <a:lnTo>
                  <a:pt x="188115" y="4048125"/>
                </a:lnTo>
                <a:lnTo>
                  <a:pt x="178038" y="3987800"/>
                </a:lnTo>
                <a:lnTo>
                  <a:pt x="167960" y="3935412"/>
                </a:lnTo>
                <a:lnTo>
                  <a:pt x="152844" y="3890962"/>
                </a:lnTo>
                <a:lnTo>
                  <a:pt x="134368" y="3848100"/>
                </a:lnTo>
                <a:lnTo>
                  <a:pt x="115893" y="3811587"/>
                </a:lnTo>
                <a:lnTo>
                  <a:pt x="75583" y="3736975"/>
                </a:lnTo>
                <a:lnTo>
                  <a:pt x="55427" y="3697287"/>
                </a:lnTo>
                <a:lnTo>
                  <a:pt x="38632" y="3656012"/>
                </a:lnTo>
                <a:lnTo>
                  <a:pt x="23515" y="3609975"/>
                </a:lnTo>
                <a:lnTo>
                  <a:pt x="11758" y="3557587"/>
                </a:lnTo>
                <a:lnTo>
                  <a:pt x="3359" y="3497262"/>
                </a:lnTo>
                <a:lnTo>
                  <a:pt x="0" y="3427412"/>
                </a:lnTo>
                <a:lnTo>
                  <a:pt x="3359" y="3360737"/>
                </a:lnTo>
                <a:lnTo>
                  <a:pt x="11758" y="3300412"/>
                </a:lnTo>
                <a:lnTo>
                  <a:pt x="23515" y="3248025"/>
                </a:lnTo>
                <a:lnTo>
                  <a:pt x="38632" y="3201987"/>
                </a:lnTo>
                <a:lnTo>
                  <a:pt x="55427" y="3160712"/>
                </a:lnTo>
                <a:lnTo>
                  <a:pt x="75583" y="3121025"/>
                </a:lnTo>
                <a:lnTo>
                  <a:pt x="95738" y="3084512"/>
                </a:lnTo>
                <a:lnTo>
                  <a:pt x="115893" y="3046412"/>
                </a:lnTo>
                <a:lnTo>
                  <a:pt x="134368" y="3009900"/>
                </a:lnTo>
                <a:lnTo>
                  <a:pt x="152844" y="2967037"/>
                </a:lnTo>
                <a:lnTo>
                  <a:pt x="167960" y="2922587"/>
                </a:lnTo>
                <a:lnTo>
                  <a:pt x="178038" y="2868612"/>
                </a:lnTo>
                <a:lnTo>
                  <a:pt x="188115" y="2809875"/>
                </a:lnTo>
                <a:lnTo>
                  <a:pt x="189795" y="2741612"/>
                </a:lnTo>
                <a:lnTo>
                  <a:pt x="188115" y="2671762"/>
                </a:lnTo>
                <a:lnTo>
                  <a:pt x="178038" y="2613025"/>
                </a:lnTo>
                <a:lnTo>
                  <a:pt x="167960" y="2560637"/>
                </a:lnTo>
                <a:lnTo>
                  <a:pt x="152844" y="2513012"/>
                </a:lnTo>
                <a:lnTo>
                  <a:pt x="134368" y="2471737"/>
                </a:lnTo>
                <a:lnTo>
                  <a:pt x="115893" y="2433637"/>
                </a:lnTo>
                <a:lnTo>
                  <a:pt x="95738" y="2395537"/>
                </a:lnTo>
                <a:lnTo>
                  <a:pt x="75583" y="2359025"/>
                </a:lnTo>
                <a:lnTo>
                  <a:pt x="55427" y="2319337"/>
                </a:lnTo>
                <a:lnTo>
                  <a:pt x="38632" y="2278062"/>
                </a:lnTo>
                <a:lnTo>
                  <a:pt x="23515" y="2232025"/>
                </a:lnTo>
                <a:lnTo>
                  <a:pt x="11758" y="2179637"/>
                </a:lnTo>
                <a:lnTo>
                  <a:pt x="3359" y="2119312"/>
                </a:lnTo>
                <a:lnTo>
                  <a:pt x="0" y="2051050"/>
                </a:lnTo>
                <a:lnTo>
                  <a:pt x="3359" y="1982787"/>
                </a:lnTo>
                <a:lnTo>
                  <a:pt x="11758" y="1922462"/>
                </a:lnTo>
                <a:lnTo>
                  <a:pt x="23515" y="1870075"/>
                </a:lnTo>
                <a:lnTo>
                  <a:pt x="38632" y="1824037"/>
                </a:lnTo>
                <a:lnTo>
                  <a:pt x="55427" y="1782762"/>
                </a:lnTo>
                <a:lnTo>
                  <a:pt x="75583" y="1743075"/>
                </a:lnTo>
                <a:lnTo>
                  <a:pt x="95738" y="1708150"/>
                </a:lnTo>
                <a:lnTo>
                  <a:pt x="115893" y="1671637"/>
                </a:lnTo>
                <a:lnTo>
                  <a:pt x="134368" y="1631950"/>
                </a:lnTo>
                <a:lnTo>
                  <a:pt x="152844" y="1589087"/>
                </a:lnTo>
                <a:lnTo>
                  <a:pt x="167960" y="1544637"/>
                </a:lnTo>
                <a:lnTo>
                  <a:pt x="178038" y="1492250"/>
                </a:lnTo>
                <a:lnTo>
                  <a:pt x="188115" y="1431925"/>
                </a:lnTo>
                <a:lnTo>
                  <a:pt x="189795" y="1363662"/>
                </a:lnTo>
                <a:lnTo>
                  <a:pt x="188115" y="1295400"/>
                </a:lnTo>
                <a:lnTo>
                  <a:pt x="178038" y="1235075"/>
                </a:lnTo>
                <a:lnTo>
                  <a:pt x="167960" y="1182687"/>
                </a:lnTo>
                <a:lnTo>
                  <a:pt x="152844" y="1136650"/>
                </a:lnTo>
                <a:lnTo>
                  <a:pt x="134368" y="1095375"/>
                </a:lnTo>
                <a:lnTo>
                  <a:pt x="115893" y="1055687"/>
                </a:lnTo>
                <a:lnTo>
                  <a:pt x="95738" y="1017587"/>
                </a:lnTo>
                <a:lnTo>
                  <a:pt x="75583" y="981075"/>
                </a:lnTo>
                <a:lnTo>
                  <a:pt x="55427" y="942975"/>
                </a:lnTo>
                <a:lnTo>
                  <a:pt x="38632" y="901700"/>
                </a:lnTo>
                <a:lnTo>
                  <a:pt x="23515" y="854075"/>
                </a:lnTo>
                <a:lnTo>
                  <a:pt x="11758" y="801687"/>
                </a:lnTo>
                <a:lnTo>
                  <a:pt x="3359" y="744537"/>
                </a:lnTo>
                <a:lnTo>
                  <a:pt x="0" y="673100"/>
                </a:lnTo>
                <a:lnTo>
                  <a:pt x="3359" y="606425"/>
                </a:lnTo>
                <a:lnTo>
                  <a:pt x="11758" y="546100"/>
                </a:lnTo>
                <a:lnTo>
                  <a:pt x="23515" y="496887"/>
                </a:lnTo>
                <a:lnTo>
                  <a:pt x="38632" y="450850"/>
                </a:lnTo>
                <a:lnTo>
                  <a:pt x="55427" y="409575"/>
                </a:lnTo>
                <a:lnTo>
                  <a:pt x="73903" y="369887"/>
                </a:lnTo>
                <a:lnTo>
                  <a:pt x="92379" y="334962"/>
                </a:lnTo>
                <a:lnTo>
                  <a:pt x="112534" y="296862"/>
                </a:lnTo>
                <a:lnTo>
                  <a:pt x="132689" y="260350"/>
                </a:lnTo>
                <a:lnTo>
                  <a:pt x="149485" y="217487"/>
                </a:lnTo>
                <a:lnTo>
                  <a:pt x="166281" y="174625"/>
                </a:lnTo>
                <a:lnTo>
                  <a:pt x="176358" y="122237"/>
                </a:lnTo>
                <a:lnTo>
                  <a:pt x="184756" y="66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EAC89B5-E196-4F2A-EB54-72624935BD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803" r="11171" b="2"/>
          <a:stretch>
            <a:fillRect/>
          </a:stretch>
        </p:blipFill>
        <p:spPr>
          <a:xfrm>
            <a:off x="5913630" y="642807"/>
            <a:ext cx="2339821" cy="3037653"/>
          </a:xfrm>
          <a:custGeom>
            <a:avLst/>
            <a:gdLst/>
            <a:ahLst/>
            <a:cxnLst/>
            <a:rect l="l" t="t" r="r" b="b"/>
            <a:pathLst>
              <a:path w="5282519" h="6858000">
                <a:moveTo>
                  <a:pt x="189795" y="0"/>
                </a:moveTo>
                <a:lnTo>
                  <a:pt x="5282519" y="0"/>
                </a:lnTo>
                <a:lnTo>
                  <a:pt x="5282519" y="6858000"/>
                </a:lnTo>
                <a:lnTo>
                  <a:pt x="189795" y="6858000"/>
                </a:lnTo>
                <a:lnTo>
                  <a:pt x="184756" y="6791325"/>
                </a:lnTo>
                <a:lnTo>
                  <a:pt x="176358" y="6735762"/>
                </a:lnTo>
                <a:lnTo>
                  <a:pt x="166281" y="6683375"/>
                </a:lnTo>
                <a:lnTo>
                  <a:pt x="149485" y="6640512"/>
                </a:lnTo>
                <a:lnTo>
                  <a:pt x="132689" y="6597650"/>
                </a:lnTo>
                <a:lnTo>
                  <a:pt x="112534" y="6561137"/>
                </a:lnTo>
                <a:lnTo>
                  <a:pt x="92379" y="6523037"/>
                </a:lnTo>
                <a:lnTo>
                  <a:pt x="73903" y="6488112"/>
                </a:lnTo>
                <a:lnTo>
                  <a:pt x="55427" y="6448425"/>
                </a:lnTo>
                <a:lnTo>
                  <a:pt x="38632" y="6407150"/>
                </a:lnTo>
                <a:lnTo>
                  <a:pt x="23515" y="6361112"/>
                </a:lnTo>
                <a:lnTo>
                  <a:pt x="11758" y="6311900"/>
                </a:lnTo>
                <a:lnTo>
                  <a:pt x="3359" y="6251575"/>
                </a:lnTo>
                <a:lnTo>
                  <a:pt x="0" y="6183312"/>
                </a:lnTo>
                <a:lnTo>
                  <a:pt x="3359" y="6113462"/>
                </a:lnTo>
                <a:lnTo>
                  <a:pt x="11758" y="6056312"/>
                </a:lnTo>
                <a:lnTo>
                  <a:pt x="23515" y="6003925"/>
                </a:lnTo>
                <a:lnTo>
                  <a:pt x="38632" y="5956300"/>
                </a:lnTo>
                <a:lnTo>
                  <a:pt x="55427" y="5915025"/>
                </a:lnTo>
                <a:lnTo>
                  <a:pt x="75583" y="5876925"/>
                </a:lnTo>
                <a:lnTo>
                  <a:pt x="95738" y="5840412"/>
                </a:lnTo>
                <a:lnTo>
                  <a:pt x="115893" y="5802312"/>
                </a:lnTo>
                <a:lnTo>
                  <a:pt x="134368" y="5762625"/>
                </a:lnTo>
                <a:lnTo>
                  <a:pt x="152844" y="5721350"/>
                </a:lnTo>
                <a:lnTo>
                  <a:pt x="167960" y="5675312"/>
                </a:lnTo>
                <a:lnTo>
                  <a:pt x="178038" y="5622925"/>
                </a:lnTo>
                <a:lnTo>
                  <a:pt x="188115" y="5562600"/>
                </a:lnTo>
                <a:lnTo>
                  <a:pt x="189795" y="5494337"/>
                </a:lnTo>
                <a:lnTo>
                  <a:pt x="188115" y="5426075"/>
                </a:lnTo>
                <a:lnTo>
                  <a:pt x="178038" y="5365750"/>
                </a:lnTo>
                <a:lnTo>
                  <a:pt x="167960" y="5313362"/>
                </a:lnTo>
                <a:lnTo>
                  <a:pt x="152844" y="5268912"/>
                </a:lnTo>
                <a:lnTo>
                  <a:pt x="134368" y="5226050"/>
                </a:lnTo>
                <a:lnTo>
                  <a:pt x="115893" y="5186362"/>
                </a:lnTo>
                <a:lnTo>
                  <a:pt x="95738" y="5149850"/>
                </a:lnTo>
                <a:lnTo>
                  <a:pt x="75583" y="5114925"/>
                </a:lnTo>
                <a:lnTo>
                  <a:pt x="55427" y="5075237"/>
                </a:lnTo>
                <a:lnTo>
                  <a:pt x="38632" y="5033962"/>
                </a:lnTo>
                <a:lnTo>
                  <a:pt x="23515" y="4987925"/>
                </a:lnTo>
                <a:lnTo>
                  <a:pt x="11758" y="4935537"/>
                </a:lnTo>
                <a:lnTo>
                  <a:pt x="3359" y="4875212"/>
                </a:lnTo>
                <a:lnTo>
                  <a:pt x="0" y="4806950"/>
                </a:lnTo>
                <a:lnTo>
                  <a:pt x="3359" y="4738687"/>
                </a:lnTo>
                <a:lnTo>
                  <a:pt x="11758" y="4678362"/>
                </a:lnTo>
                <a:lnTo>
                  <a:pt x="23515" y="4625975"/>
                </a:lnTo>
                <a:lnTo>
                  <a:pt x="38632" y="4579937"/>
                </a:lnTo>
                <a:lnTo>
                  <a:pt x="55427" y="4537075"/>
                </a:lnTo>
                <a:lnTo>
                  <a:pt x="75583" y="4498975"/>
                </a:lnTo>
                <a:lnTo>
                  <a:pt x="115893" y="4424362"/>
                </a:lnTo>
                <a:lnTo>
                  <a:pt x="134368" y="4386262"/>
                </a:lnTo>
                <a:lnTo>
                  <a:pt x="152844" y="4343400"/>
                </a:lnTo>
                <a:lnTo>
                  <a:pt x="167960" y="4297362"/>
                </a:lnTo>
                <a:lnTo>
                  <a:pt x="178038" y="4244975"/>
                </a:lnTo>
                <a:lnTo>
                  <a:pt x="188115" y="4186237"/>
                </a:lnTo>
                <a:lnTo>
                  <a:pt x="189795" y="4116387"/>
                </a:lnTo>
                <a:lnTo>
                  <a:pt x="188115" y="4048125"/>
                </a:lnTo>
                <a:lnTo>
                  <a:pt x="178038" y="3987800"/>
                </a:lnTo>
                <a:lnTo>
                  <a:pt x="167960" y="3935412"/>
                </a:lnTo>
                <a:lnTo>
                  <a:pt x="152844" y="3890962"/>
                </a:lnTo>
                <a:lnTo>
                  <a:pt x="134368" y="3848100"/>
                </a:lnTo>
                <a:lnTo>
                  <a:pt x="115893" y="3811587"/>
                </a:lnTo>
                <a:lnTo>
                  <a:pt x="75583" y="3736975"/>
                </a:lnTo>
                <a:lnTo>
                  <a:pt x="55427" y="3697287"/>
                </a:lnTo>
                <a:lnTo>
                  <a:pt x="38632" y="3656012"/>
                </a:lnTo>
                <a:lnTo>
                  <a:pt x="23515" y="3609975"/>
                </a:lnTo>
                <a:lnTo>
                  <a:pt x="11758" y="3557587"/>
                </a:lnTo>
                <a:lnTo>
                  <a:pt x="3359" y="3497262"/>
                </a:lnTo>
                <a:lnTo>
                  <a:pt x="0" y="3427412"/>
                </a:lnTo>
                <a:lnTo>
                  <a:pt x="3359" y="3360737"/>
                </a:lnTo>
                <a:lnTo>
                  <a:pt x="11758" y="3300412"/>
                </a:lnTo>
                <a:lnTo>
                  <a:pt x="23515" y="3248025"/>
                </a:lnTo>
                <a:lnTo>
                  <a:pt x="38632" y="3201987"/>
                </a:lnTo>
                <a:lnTo>
                  <a:pt x="55427" y="3160712"/>
                </a:lnTo>
                <a:lnTo>
                  <a:pt x="75583" y="3121025"/>
                </a:lnTo>
                <a:lnTo>
                  <a:pt x="95738" y="3084512"/>
                </a:lnTo>
                <a:lnTo>
                  <a:pt x="115893" y="3046412"/>
                </a:lnTo>
                <a:lnTo>
                  <a:pt x="134368" y="3009900"/>
                </a:lnTo>
                <a:lnTo>
                  <a:pt x="152844" y="2967037"/>
                </a:lnTo>
                <a:lnTo>
                  <a:pt x="167960" y="2922587"/>
                </a:lnTo>
                <a:lnTo>
                  <a:pt x="178038" y="2868612"/>
                </a:lnTo>
                <a:lnTo>
                  <a:pt x="188115" y="2809875"/>
                </a:lnTo>
                <a:lnTo>
                  <a:pt x="189795" y="2741612"/>
                </a:lnTo>
                <a:lnTo>
                  <a:pt x="188115" y="2671762"/>
                </a:lnTo>
                <a:lnTo>
                  <a:pt x="178038" y="2613025"/>
                </a:lnTo>
                <a:lnTo>
                  <a:pt x="167960" y="2560637"/>
                </a:lnTo>
                <a:lnTo>
                  <a:pt x="152844" y="2513012"/>
                </a:lnTo>
                <a:lnTo>
                  <a:pt x="134368" y="2471737"/>
                </a:lnTo>
                <a:lnTo>
                  <a:pt x="115893" y="2433637"/>
                </a:lnTo>
                <a:lnTo>
                  <a:pt x="95738" y="2395537"/>
                </a:lnTo>
                <a:lnTo>
                  <a:pt x="75583" y="2359025"/>
                </a:lnTo>
                <a:lnTo>
                  <a:pt x="55427" y="2319337"/>
                </a:lnTo>
                <a:lnTo>
                  <a:pt x="38632" y="2278062"/>
                </a:lnTo>
                <a:lnTo>
                  <a:pt x="23515" y="2232025"/>
                </a:lnTo>
                <a:lnTo>
                  <a:pt x="11758" y="2179637"/>
                </a:lnTo>
                <a:lnTo>
                  <a:pt x="3359" y="2119312"/>
                </a:lnTo>
                <a:lnTo>
                  <a:pt x="0" y="2051050"/>
                </a:lnTo>
                <a:lnTo>
                  <a:pt x="3359" y="1982787"/>
                </a:lnTo>
                <a:lnTo>
                  <a:pt x="11758" y="1922462"/>
                </a:lnTo>
                <a:lnTo>
                  <a:pt x="23515" y="1870075"/>
                </a:lnTo>
                <a:lnTo>
                  <a:pt x="38632" y="1824037"/>
                </a:lnTo>
                <a:lnTo>
                  <a:pt x="55427" y="1782762"/>
                </a:lnTo>
                <a:lnTo>
                  <a:pt x="75583" y="1743075"/>
                </a:lnTo>
                <a:lnTo>
                  <a:pt x="95738" y="1708150"/>
                </a:lnTo>
                <a:lnTo>
                  <a:pt x="115893" y="1671637"/>
                </a:lnTo>
                <a:lnTo>
                  <a:pt x="134368" y="1631950"/>
                </a:lnTo>
                <a:lnTo>
                  <a:pt x="152844" y="1589087"/>
                </a:lnTo>
                <a:lnTo>
                  <a:pt x="167960" y="1544637"/>
                </a:lnTo>
                <a:lnTo>
                  <a:pt x="178038" y="1492250"/>
                </a:lnTo>
                <a:lnTo>
                  <a:pt x="188115" y="1431925"/>
                </a:lnTo>
                <a:lnTo>
                  <a:pt x="189795" y="1363662"/>
                </a:lnTo>
                <a:lnTo>
                  <a:pt x="188115" y="1295400"/>
                </a:lnTo>
                <a:lnTo>
                  <a:pt x="178038" y="1235075"/>
                </a:lnTo>
                <a:lnTo>
                  <a:pt x="167960" y="1182687"/>
                </a:lnTo>
                <a:lnTo>
                  <a:pt x="152844" y="1136650"/>
                </a:lnTo>
                <a:lnTo>
                  <a:pt x="134368" y="1095375"/>
                </a:lnTo>
                <a:lnTo>
                  <a:pt x="115893" y="1055687"/>
                </a:lnTo>
                <a:lnTo>
                  <a:pt x="95738" y="1017587"/>
                </a:lnTo>
                <a:lnTo>
                  <a:pt x="75583" y="981075"/>
                </a:lnTo>
                <a:lnTo>
                  <a:pt x="55427" y="942975"/>
                </a:lnTo>
                <a:lnTo>
                  <a:pt x="38632" y="901700"/>
                </a:lnTo>
                <a:lnTo>
                  <a:pt x="23515" y="854075"/>
                </a:lnTo>
                <a:lnTo>
                  <a:pt x="11758" y="801687"/>
                </a:lnTo>
                <a:lnTo>
                  <a:pt x="3359" y="744537"/>
                </a:lnTo>
                <a:lnTo>
                  <a:pt x="0" y="673100"/>
                </a:lnTo>
                <a:lnTo>
                  <a:pt x="3359" y="606425"/>
                </a:lnTo>
                <a:lnTo>
                  <a:pt x="11758" y="546100"/>
                </a:lnTo>
                <a:lnTo>
                  <a:pt x="23515" y="496887"/>
                </a:lnTo>
                <a:lnTo>
                  <a:pt x="38632" y="450850"/>
                </a:lnTo>
                <a:lnTo>
                  <a:pt x="55427" y="409575"/>
                </a:lnTo>
                <a:lnTo>
                  <a:pt x="73903" y="369887"/>
                </a:lnTo>
                <a:lnTo>
                  <a:pt x="92379" y="334962"/>
                </a:lnTo>
                <a:lnTo>
                  <a:pt x="112534" y="296862"/>
                </a:lnTo>
                <a:lnTo>
                  <a:pt x="132689" y="260350"/>
                </a:lnTo>
                <a:lnTo>
                  <a:pt x="149485" y="217487"/>
                </a:lnTo>
                <a:lnTo>
                  <a:pt x="166281" y="174625"/>
                </a:lnTo>
                <a:lnTo>
                  <a:pt x="176358" y="122237"/>
                </a:lnTo>
                <a:lnTo>
                  <a:pt x="184756" y="6667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36981177"/>
      </p:ext>
    </p:extLst>
  </p:cSld>
  <p:clrMapOvr>
    <a:masterClrMapping/>
  </p:clrMapOvr>
</p:sld>
</file>

<file path=ppt/theme/theme1.xml><?xml version="1.0" encoding="utf-8"?>
<a:theme xmlns:a="http://schemas.openxmlformats.org/drawingml/2006/main" name="Нетология">
  <a:themeElements>
    <a:clrScheme name="Пользовательские 7">
      <a:dk1>
        <a:srgbClr val="E9EBF5"/>
      </a:dk1>
      <a:lt1>
        <a:srgbClr val="30312E"/>
      </a:lt1>
      <a:dk2>
        <a:srgbClr val="E9EBF5"/>
      </a:dk2>
      <a:lt2>
        <a:srgbClr val="30312E"/>
      </a:lt2>
      <a:accent1>
        <a:srgbClr val="F4B636"/>
      </a:accent1>
      <a:accent2>
        <a:srgbClr val="EB7939"/>
      </a:accent2>
      <a:accent3>
        <a:srgbClr val="E9584F"/>
      </a:accent3>
      <a:accent4>
        <a:srgbClr val="AA1C7A"/>
      </a:accent4>
      <a:accent5>
        <a:srgbClr val="1856FF"/>
      </a:accent5>
      <a:accent6>
        <a:srgbClr val="76A447"/>
      </a:accent6>
      <a:hlink>
        <a:srgbClr val="1856FF"/>
      </a:hlink>
      <a:folHlink>
        <a:srgbClr val="E9584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Эмблема">
  <a:themeElements>
    <a:clrScheme name="Синий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Эмблема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Эмблем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433</Words>
  <Application>Microsoft Office PowerPoint</Application>
  <PresentationFormat>Экран (16:9)</PresentationFormat>
  <Paragraphs>73</Paragraphs>
  <Slides>12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12</vt:i4>
      </vt:variant>
    </vt:vector>
  </HeadingPairs>
  <TitlesOfParts>
    <vt:vector size="22" baseType="lpstr">
      <vt:lpstr>Arial</vt:lpstr>
      <vt:lpstr>Calibri</vt:lpstr>
      <vt:lpstr>Corbel</vt:lpstr>
      <vt:lpstr>Courier New</vt:lpstr>
      <vt:lpstr>Gill Sans MT</vt:lpstr>
      <vt:lpstr>Impact</vt:lpstr>
      <vt:lpstr>Proxima Nova</vt:lpstr>
      <vt:lpstr>Wingdings</vt:lpstr>
      <vt:lpstr>Нетология</vt:lpstr>
      <vt:lpstr>Эмблема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Kirill Ershov</cp:lastModifiedBy>
  <cp:revision>5</cp:revision>
  <dcterms:modified xsi:type="dcterms:W3CDTF">2025-11-06T14:40:29Z</dcterms:modified>
</cp:coreProperties>
</file>